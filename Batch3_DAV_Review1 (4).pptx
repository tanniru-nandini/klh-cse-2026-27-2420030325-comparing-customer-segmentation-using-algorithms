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0" r:id="rId2"/>
    <p:sldId id="257" r:id="rId3"/>
    <p:sldId id="264" r:id="rId4"/>
    <p:sldId id="258" r:id="rId5"/>
    <p:sldId id="265" r:id="rId6"/>
    <p:sldId id="267" r:id="rId7"/>
    <p:sldId id="261" r:id="rId8"/>
    <p:sldId id="266" r:id="rId9"/>
    <p:sldId id="260" r:id="rId10"/>
    <p:sldId id="262" r:id="rId11"/>
    <p:sldId id="259" r:id="rId12"/>
    <p:sldId id="269"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89DC20-7F9B-40B0-A39F-D07F69CA9DED}" v="10" dt="2026-08-12T03:26:15.6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DINI TANNERU" userId="0657bc66d5872c2e" providerId="LiveId" clId="{A305FAE5-D065-467C-965C-4D7E2561D754}"/>
    <pc:docChg chg="undo custSel delSld modSld sldOrd">
      <pc:chgData name="NANDINI TANNERU" userId="0657bc66d5872c2e" providerId="LiveId" clId="{A305FAE5-D065-467C-965C-4D7E2561D754}" dt="2026-08-12T04:10:12.360" v="546" actId="20577"/>
      <pc:docMkLst>
        <pc:docMk/>
      </pc:docMkLst>
      <pc:sldChg chg="modSp mod">
        <pc:chgData name="NANDINI TANNERU" userId="0657bc66d5872c2e" providerId="LiveId" clId="{A305FAE5-D065-467C-965C-4D7E2561D754}" dt="2026-08-08T05:29:18.702" v="349" actId="20577"/>
        <pc:sldMkLst>
          <pc:docMk/>
          <pc:sldMk cId="0" sldId="257"/>
        </pc:sldMkLst>
        <pc:spChg chg="mod">
          <ac:chgData name="NANDINI TANNERU" userId="0657bc66d5872c2e" providerId="LiveId" clId="{A305FAE5-D065-467C-965C-4D7E2561D754}" dt="2026-08-08T05:29:18.702" v="349" actId="20577"/>
          <ac:spMkLst>
            <pc:docMk/>
            <pc:sldMk cId="0" sldId="257"/>
            <ac:spMk id="7" creationId="{1C70C049-38C4-198F-3181-AACE07DE24AE}"/>
          </ac:spMkLst>
        </pc:spChg>
      </pc:sldChg>
      <pc:sldChg chg="modSp mod">
        <pc:chgData name="NANDINI TANNERU" userId="0657bc66d5872c2e" providerId="LiveId" clId="{A305FAE5-D065-467C-965C-4D7E2561D754}" dt="2026-08-08T05:29:01.118" v="321" actId="123"/>
        <pc:sldMkLst>
          <pc:docMk/>
          <pc:sldMk cId="0" sldId="258"/>
        </pc:sldMkLst>
        <pc:spChg chg="mod">
          <ac:chgData name="NANDINI TANNERU" userId="0657bc66d5872c2e" providerId="LiveId" clId="{A305FAE5-D065-467C-965C-4D7E2561D754}" dt="2026-08-08T05:29:01.118" v="321" actId="123"/>
          <ac:spMkLst>
            <pc:docMk/>
            <pc:sldMk cId="0" sldId="258"/>
            <ac:spMk id="5" creationId="{E347E65F-A722-8232-E70C-F1EEB73CF4B1}"/>
          </ac:spMkLst>
        </pc:spChg>
      </pc:sldChg>
      <pc:sldChg chg="modSp mod">
        <pc:chgData name="NANDINI TANNERU" userId="0657bc66d5872c2e" providerId="LiveId" clId="{A305FAE5-D065-467C-965C-4D7E2561D754}" dt="2026-08-08T05:00:07.559" v="135" actId="20577"/>
        <pc:sldMkLst>
          <pc:docMk/>
          <pc:sldMk cId="0" sldId="259"/>
        </pc:sldMkLst>
        <pc:spChg chg="mod">
          <ac:chgData name="NANDINI TANNERU" userId="0657bc66d5872c2e" providerId="LiveId" clId="{A305FAE5-D065-467C-965C-4D7E2561D754}" dt="2026-08-08T05:00:07.559" v="135" actId="20577"/>
          <ac:spMkLst>
            <pc:docMk/>
            <pc:sldMk cId="0" sldId="259"/>
            <ac:spMk id="2" creationId="{00000000-0000-0000-0000-000000000000}"/>
          </ac:spMkLst>
        </pc:spChg>
      </pc:sldChg>
      <pc:sldChg chg="addSp delSp modSp mod">
        <pc:chgData name="NANDINI TANNERU" userId="0657bc66d5872c2e" providerId="LiveId" clId="{A305FAE5-D065-467C-965C-4D7E2561D754}" dt="2026-08-08T05:38:00.874" v="541"/>
        <pc:sldMkLst>
          <pc:docMk/>
          <pc:sldMk cId="0" sldId="260"/>
        </pc:sldMkLst>
        <pc:spChg chg="mod">
          <ac:chgData name="NANDINI TANNERU" userId="0657bc66d5872c2e" providerId="LiveId" clId="{A305FAE5-D065-467C-965C-4D7E2561D754}" dt="2026-08-08T05:37:50.908" v="538" actId="12"/>
          <ac:spMkLst>
            <pc:docMk/>
            <pc:sldMk cId="0" sldId="260"/>
            <ac:spMk id="5" creationId="{F4F00390-288F-1C85-A34B-30E7BA4BC94D}"/>
          </ac:spMkLst>
        </pc:spChg>
      </pc:sldChg>
      <pc:sldChg chg="modSp mod">
        <pc:chgData name="NANDINI TANNERU" userId="0657bc66d5872c2e" providerId="LiveId" clId="{A305FAE5-D065-467C-965C-4D7E2561D754}" dt="2026-08-08T05:26:32.775" v="308" actId="20577"/>
        <pc:sldMkLst>
          <pc:docMk/>
          <pc:sldMk cId="0" sldId="261"/>
        </pc:sldMkLst>
        <pc:spChg chg="mod">
          <ac:chgData name="NANDINI TANNERU" userId="0657bc66d5872c2e" providerId="LiveId" clId="{A305FAE5-D065-467C-965C-4D7E2561D754}" dt="2026-08-08T05:26:32.775" v="308" actId="20577"/>
          <ac:spMkLst>
            <pc:docMk/>
            <pc:sldMk cId="0" sldId="261"/>
            <ac:spMk id="4" creationId="{DB9EB04F-FECD-A212-E715-01E5112D3C81}"/>
          </ac:spMkLst>
        </pc:spChg>
      </pc:sldChg>
      <pc:sldChg chg="addSp delSp modSp mod">
        <pc:chgData name="NANDINI TANNERU" userId="0657bc66d5872c2e" providerId="LiveId" clId="{A305FAE5-D065-467C-965C-4D7E2561D754}" dt="2026-08-12T03:26:20.569" v="544"/>
        <pc:sldMkLst>
          <pc:docMk/>
          <pc:sldMk cId="0" sldId="262"/>
        </pc:sldMkLst>
        <pc:spChg chg="add del mod">
          <ac:chgData name="NANDINI TANNERU" userId="0657bc66d5872c2e" providerId="LiveId" clId="{A305FAE5-D065-467C-965C-4D7E2561D754}" dt="2026-08-12T03:26:20.569" v="544"/>
          <ac:spMkLst>
            <pc:docMk/>
            <pc:sldMk cId="0" sldId="262"/>
            <ac:spMk id="2" creationId="{85BA145D-FCBA-CD5F-A7C8-6DC08270A0B9}"/>
          </ac:spMkLst>
        </pc:spChg>
        <pc:spChg chg="mod">
          <ac:chgData name="NANDINI TANNERU" userId="0657bc66d5872c2e" providerId="LiveId" clId="{A305FAE5-D065-467C-965C-4D7E2561D754}" dt="2026-08-08T05:15:16.853" v="253" actId="1076"/>
          <ac:spMkLst>
            <pc:docMk/>
            <pc:sldMk cId="0" sldId="262"/>
            <ac:spMk id="5" creationId="{89010E39-C34F-2D90-E757-2B5373BF5544}"/>
          </ac:spMkLst>
        </pc:spChg>
      </pc:sldChg>
      <pc:sldChg chg="modSp mod">
        <pc:chgData name="NANDINI TANNERU" userId="0657bc66d5872c2e" providerId="LiveId" clId="{A305FAE5-D065-467C-965C-4D7E2561D754}" dt="2026-08-08T05:29:05.740" v="322" actId="123"/>
        <pc:sldMkLst>
          <pc:docMk/>
          <pc:sldMk cId="1672422596" sldId="264"/>
        </pc:sldMkLst>
        <pc:spChg chg="mod">
          <ac:chgData name="NANDINI TANNERU" userId="0657bc66d5872c2e" providerId="LiveId" clId="{A305FAE5-D065-467C-965C-4D7E2561D754}" dt="2026-08-08T05:29:05.740" v="322" actId="123"/>
          <ac:spMkLst>
            <pc:docMk/>
            <pc:sldMk cId="1672422596" sldId="264"/>
            <ac:spMk id="5" creationId="{65078A58-6A66-8B6F-D0CB-F6E7C730B66C}"/>
          </ac:spMkLst>
        </pc:spChg>
      </pc:sldChg>
      <pc:sldChg chg="ord">
        <pc:chgData name="NANDINI TANNERU" userId="0657bc66d5872c2e" providerId="LiveId" clId="{A305FAE5-D065-467C-965C-4D7E2561D754}" dt="2026-08-08T04:55:12.009" v="80"/>
        <pc:sldMkLst>
          <pc:docMk/>
          <pc:sldMk cId="3441026644" sldId="265"/>
        </pc:sldMkLst>
      </pc:sldChg>
      <pc:sldChg chg="modSp mod">
        <pc:chgData name="NANDINI TANNERU" userId="0657bc66d5872c2e" providerId="LiveId" clId="{A305FAE5-D065-467C-965C-4D7E2561D754}" dt="2026-08-08T05:16:22.927" v="297" actId="20577"/>
        <pc:sldMkLst>
          <pc:docMk/>
          <pc:sldMk cId="2292750904" sldId="266"/>
        </pc:sldMkLst>
        <pc:spChg chg="mod">
          <ac:chgData name="NANDINI TANNERU" userId="0657bc66d5872c2e" providerId="LiveId" clId="{A305FAE5-D065-467C-965C-4D7E2561D754}" dt="2026-08-08T05:16:22.927" v="297" actId="20577"/>
          <ac:spMkLst>
            <pc:docMk/>
            <pc:sldMk cId="2292750904" sldId="266"/>
            <ac:spMk id="6" creationId="{9FF3910A-D3E5-22FF-9AC2-A77556426F36}"/>
          </ac:spMkLst>
        </pc:spChg>
      </pc:sldChg>
      <pc:sldChg chg="modSp mod ord">
        <pc:chgData name="NANDINI TANNERU" userId="0657bc66d5872c2e" providerId="LiveId" clId="{A305FAE5-D065-467C-965C-4D7E2561D754}" dt="2026-08-08T05:34:29.392" v="363" actId="255"/>
        <pc:sldMkLst>
          <pc:docMk/>
          <pc:sldMk cId="106092222" sldId="267"/>
        </pc:sldMkLst>
        <pc:spChg chg="mod">
          <ac:chgData name="NANDINI TANNERU" userId="0657bc66d5872c2e" providerId="LiveId" clId="{A305FAE5-D065-467C-965C-4D7E2561D754}" dt="2026-08-08T05:34:29.392" v="363" actId="255"/>
          <ac:spMkLst>
            <pc:docMk/>
            <pc:sldMk cId="106092222" sldId="267"/>
            <ac:spMk id="7" creationId="{C5EB7DA5-C0A9-6F74-966A-208A7A1C1A93}"/>
          </ac:spMkLst>
        </pc:spChg>
        <pc:spChg chg="mod">
          <ac:chgData name="NANDINI TANNERU" userId="0657bc66d5872c2e" providerId="LiveId" clId="{A305FAE5-D065-467C-965C-4D7E2561D754}" dt="2026-08-08T05:34:07.833" v="361" actId="12"/>
          <ac:spMkLst>
            <pc:docMk/>
            <pc:sldMk cId="106092222" sldId="267"/>
            <ac:spMk id="9" creationId="{7644C301-2406-4BDF-09A1-8EA3C1CEC91B}"/>
          </ac:spMkLst>
        </pc:spChg>
      </pc:sldChg>
      <pc:sldChg chg="addSp delSp modSp mod">
        <pc:chgData name="NANDINI TANNERU" userId="0657bc66d5872c2e" providerId="LiveId" clId="{A305FAE5-D065-467C-965C-4D7E2561D754}" dt="2026-08-08T05:14:32.512" v="251" actId="1076"/>
        <pc:sldMkLst>
          <pc:docMk/>
          <pc:sldMk cId="54794943" sldId="269"/>
        </pc:sldMkLst>
        <pc:spChg chg="mod">
          <ac:chgData name="NANDINI TANNERU" userId="0657bc66d5872c2e" providerId="LiveId" clId="{A305FAE5-D065-467C-965C-4D7E2561D754}" dt="2026-08-08T05:14:24.834" v="250" actId="1076"/>
          <ac:spMkLst>
            <pc:docMk/>
            <pc:sldMk cId="54794943" sldId="269"/>
            <ac:spMk id="6" creationId="{A8FF286C-3C98-9539-0548-FB664A3F2C12}"/>
          </ac:spMkLst>
        </pc:spChg>
        <pc:graphicFrameChg chg="add mod modGraphic">
          <ac:chgData name="NANDINI TANNERU" userId="0657bc66d5872c2e" providerId="LiveId" clId="{A305FAE5-D065-467C-965C-4D7E2561D754}" dt="2026-08-08T05:14:32.512" v="251" actId="1076"/>
          <ac:graphicFrameMkLst>
            <pc:docMk/>
            <pc:sldMk cId="54794943" sldId="269"/>
            <ac:graphicFrameMk id="8" creationId="{DBE9E285-08C7-38AA-5CD3-0E9D51A16CB2}"/>
          </ac:graphicFrameMkLst>
        </pc:graphicFrameChg>
      </pc:sldChg>
      <pc:sldChg chg="modSp mod">
        <pc:chgData name="NANDINI TANNERU" userId="0657bc66d5872c2e" providerId="LiveId" clId="{A305FAE5-D065-467C-965C-4D7E2561D754}" dt="2026-08-12T04:10:12.360" v="546" actId="20577"/>
        <pc:sldMkLst>
          <pc:docMk/>
          <pc:sldMk cId="1440229878" sldId="270"/>
        </pc:sldMkLst>
        <pc:spChg chg="mod">
          <ac:chgData name="NANDINI TANNERU" userId="0657bc66d5872c2e" providerId="LiveId" clId="{A305FAE5-D065-467C-965C-4D7E2561D754}" dt="2026-08-08T04:05:42.204" v="15" actId="404"/>
          <ac:spMkLst>
            <pc:docMk/>
            <pc:sldMk cId="1440229878" sldId="270"/>
            <ac:spMk id="3" creationId="{17C5C534-3292-E8E3-A924-A1FB9D89BC67}"/>
          </ac:spMkLst>
        </pc:spChg>
        <pc:spChg chg="mod">
          <ac:chgData name="NANDINI TANNERU" userId="0657bc66d5872c2e" providerId="LiveId" clId="{A305FAE5-D065-467C-965C-4D7E2561D754}" dt="2026-08-12T04:10:12.360" v="546" actId="20577"/>
          <ac:spMkLst>
            <pc:docMk/>
            <pc:sldMk cId="1440229878" sldId="270"/>
            <ac:spMk id="5" creationId="{8F1B6485-642D-E8A3-3E5D-831B4EDECF1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8/12/2026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8/12/2026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8/12/2026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192.168.22.6/course/view.php?id=71"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C5C534-3292-E8E3-A924-A1FB9D89BC67}"/>
              </a:ext>
            </a:extLst>
          </p:cNvPr>
          <p:cNvSpPr txBox="1"/>
          <p:nvPr/>
        </p:nvSpPr>
        <p:spPr>
          <a:xfrm>
            <a:off x="924560" y="894080"/>
            <a:ext cx="9306560" cy="3816429"/>
          </a:xfrm>
          <a:prstGeom prst="rect">
            <a:avLst/>
          </a:prstGeom>
          <a:noFill/>
        </p:spPr>
        <p:txBody>
          <a:bodyPr wrap="square">
            <a:spAutoFit/>
          </a:bodyPr>
          <a:lstStyle/>
          <a:p>
            <a:pPr algn="ctr"/>
            <a:r>
              <a:rPr lang="en-IN" sz="3200" b="1" dirty="0">
                <a:solidFill>
                  <a:srgbClr val="FF0000"/>
                </a:solidFill>
                <a:latin typeface="Arial Black" panose="020B0A04020102020204" pitchFamily="34" charset="0"/>
                <a:cs typeface="Angsana New" panose="02020603050405020304" pitchFamily="18" charset="-34"/>
                <a:hlinkClick r:id="rId2">
                  <a:extLst>
                    <a:ext uri="{A12FA001-AC4F-418D-AE19-62706E023703}">
                      <ahyp:hlinkClr xmlns:ahyp="http://schemas.microsoft.com/office/drawing/2018/hyperlinkcolor" val="tx"/>
                    </a:ext>
                  </a:extLst>
                </a:hlinkClick>
              </a:rPr>
              <a:t>Data Analytics &amp; Visualization</a:t>
            </a:r>
            <a:br>
              <a:rPr lang="en-US" sz="2000" b="1" dirty="0">
                <a:solidFill>
                  <a:srgbClr val="C00000"/>
                </a:solidFill>
                <a:latin typeface="Arial Black" panose="020B0A04020102020204" pitchFamily="34" charset="0"/>
                <a:cs typeface="Times New Roman" panose="02020603050405020304" pitchFamily="18" charset="0"/>
              </a:rPr>
            </a:br>
            <a:r>
              <a:rPr lang="en-US" sz="2000" b="1" dirty="0">
                <a:solidFill>
                  <a:srgbClr val="C00000"/>
                </a:solidFill>
                <a:latin typeface="Arial Black" panose="020B0A04020102020204" pitchFamily="34" charset="0"/>
                <a:cs typeface="Times New Roman" panose="02020603050405020304" pitchFamily="18" charset="0"/>
              </a:rPr>
              <a:t>(</a:t>
            </a:r>
            <a:r>
              <a:rPr lang="en-IN" sz="2000" b="1" dirty="0">
                <a:solidFill>
                  <a:srgbClr val="FF0000"/>
                </a:solidFill>
                <a:latin typeface="Arial Black" panose="020B0A04020102020204" pitchFamily="34" charset="0"/>
                <a:cs typeface="Angsana New" panose="02020603050405020304" pitchFamily="18" charset="-34"/>
              </a:rPr>
              <a:t>24DSB3101</a:t>
            </a:r>
            <a:r>
              <a:rPr lang="en-IN" sz="2000" dirty="0">
                <a:latin typeface="Arial Black" panose="020B0A04020102020204" pitchFamily="34" charset="0"/>
              </a:rPr>
              <a:t> </a:t>
            </a:r>
            <a:r>
              <a:rPr lang="en-US" sz="2000" b="1" dirty="0">
                <a:solidFill>
                  <a:srgbClr val="C00000"/>
                </a:solidFill>
                <a:latin typeface="Arial Black" panose="020B0A04020102020204" pitchFamily="34" charset="0"/>
                <a:cs typeface="Times New Roman" panose="02020603050405020304" pitchFamily="18" charset="0"/>
              </a:rPr>
              <a:t>)</a:t>
            </a:r>
            <a:br>
              <a:rPr lang="en-US" sz="2000" b="1" dirty="0">
                <a:solidFill>
                  <a:srgbClr val="C00000"/>
                </a:solidFill>
                <a:latin typeface="Arial Black" panose="020B0A04020102020204" pitchFamily="34" charset="0"/>
                <a:cs typeface="Times New Roman" panose="02020603050405020304" pitchFamily="18" charset="0"/>
              </a:rPr>
            </a:br>
            <a:br>
              <a:rPr lang="en-US" sz="2000" b="1" dirty="0">
                <a:solidFill>
                  <a:srgbClr val="C00000"/>
                </a:solidFill>
                <a:latin typeface="Arial Black" panose="020B0A04020102020204" pitchFamily="34" charset="0"/>
                <a:cs typeface="Times New Roman" panose="02020603050405020304" pitchFamily="18" charset="0"/>
              </a:rPr>
            </a:br>
            <a:r>
              <a:rPr lang="en-US" sz="2000" b="1" dirty="0">
                <a:solidFill>
                  <a:srgbClr val="C00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Comparative Study of Customer Segmentation Techniques Using Clustering Algorithms</a:t>
            </a:r>
            <a:r>
              <a:rPr lang="en-IN" sz="2000" dirty="0">
                <a:latin typeface="Times New Roman" panose="02020603050405020304" pitchFamily="18" charset="0"/>
                <a:cs typeface="Times New Roman" panose="02020603050405020304" pitchFamily="18" charset="0"/>
              </a:rPr>
              <a:t> Assistant</a:t>
            </a: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Submitted by: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Dhanusha-240030159</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Nandini– 2420030325</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Lekha-2420030334</a:t>
            </a:r>
            <a:br>
              <a:rPr lang="en-IN" sz="2400" b="1" dirty="0"/>
            </a:br>
            <a:endParaRPr lang="en-IN" dirty="0"/>
          </a:p>
        </p:txBody>
      </p:sp>
      <p:sp>
        <p:nvSpPr>
          <p:cNvPr id="5" name="TextBox 4">
            <a:extLst>
              <a:ext uri="{FF2B5EF4-FFF2-40B4-BE49-F238E27FC236}">
                <a16:creationId xmlns:a16="http://schemas.microsoft.com/office/drawing/2014/main" id="{8F1B6485-642D-E8A3-3E5D-831B4EDECF1A}"/>
              </a:ext>
            </a:extLst>
          </p:cNvPr>
          <p:cNvSpPr txBox="1"/>
          <p:nvPr/>
        </p:nvSpPr>
        <p:spPr>
          <a:xfrm>
            <a:off x="4165600" y="4632076"/>
            <a:ext cx="3007360" cy="923330"/>
          </a:xfrm>
          <a:prstGeom prst="rect">
            <a:avLst/>
          </a:prstGeom>
          <a:noFill/>
        </p:spPr>
        <p:txBody>
          <a:bodyPr wrap="square">
            <a:spAutoFit/>
          </a:bodyPr>
          <a:lstStyle/>
          <a:p>
            <a:pPr algn="ctr"/>
            <a:r>
              <a:rPr lang="en-IN" dirty="0">
                <a:latin typeface="Times New Roman" panose="02020603050405020304" pitchFamily="18" charset="0"/>
                <a:cs typeface="Times New Roman" panose="02020603050405020304" pitchFamily="18" charset="0"/>
              </a:rPr>
              <a:t>Group Number : 3   Section: 7</a:t>
            </a:r>
            <a:r>
              <a:rPr lang="en-US" b="1" dirty="0">
                <a:latin typeface="Times New Roman" panose="02020603050405020304" pitchFamily="18" charset="0"/>
                <a:cs typeface="Times New Roman" panose="02020603050405020304" pitchFamily="18" charset="0"/>
              </a:rPr>
              <a:t> Under the Guidance of</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err="1">
                <a:latin typeface="Times New Roman" panose="02020603050405020304" pitchFamily="18" charset="0"/>
                <a:cs typeface="Times New Roman" panose="02020603050405020304" pitchFamily="18" charset="0"/>
              </a:rPr>
              <a:t>Mrs.Swapnika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0229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036313" y="1235656"/>
            <a:ext cx="4484160" cy="5325560"/>
          </a:xfrm>
          <a:prstGeom prst="rect">
            <a:avLst/>
          </a:prstGeom>
          <a:noFill/>
        </p:spPr>
        <p:txBody>
          <a:bodyPr wrap="squar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b="0" i="0" u="none" strike="noStrike" kern="1200" dirty="0">
                <a:solidFill>
                  <a:srgbClr val="000000"/>
                </a:solidFill>
                <a:effectLst/>
                <a:latin typeface="Times New Roman" panose="02020603050405020304" pitchFamily="18" charset="0"/>
                <a:cs typeface="Times New Roman" panose="02020603050405020304" pitchFamily="18"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Problem statement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b="0" i="0" u="none" strike="noStrike" kern="1200" dirty="0">
                <a:solidFill>
                  <a:srgbClr val="000000"/>
                </a:solidFill>
                <a:effectLst/>
                <a:latin typeface="Times New Roman" panose="02020603050405020304" pitchFamily="18" charset="0"/>
                <a:cs typeface="Times New Roman" panose="02020603050405020304" pitchFamily="18" charset="0"/>
              </a:rPr>
              <a:t>obj</a:t>
            </a:r>
            <a:r>
              <a:rPr lang="en-US" dirty="0">
                <a:solidFill>
                  <a:srgbClr val="000000"/>
                </a:solidFill>
                <a:latin typeface="Times New Roman" panose="02020603050405020304" pitchFamily="18" charset="0"/>
                <a:cs typeface="Times New Roman" panose="02020603050405020304" pitchFamily="18" charset="0"/>
              </a:rPr>
              <a:t>ectives</a:t>
            </a:r>
            <a:endParaRPr lang="en-US" b="0" i="0" u="none" strike="noStrike" kern="1200" dirty="0">
              <a:solidFill>
                <a:srgbClr val="000000"/>
              </a:solidFill>
              <a:effectLst/>
              <a:latin typeface="Times New Roman" panose="02020603050405020304" pitchFamily="18" charset="0"/>
              <a:cs typeface="Times New Roman" panose="02020603050405020304" pitchFamily="18"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b="0" i="0" u="none" strike="noStrike"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Literature survey</a:t>
            </a:r>
            <a:endParaRPr lang="en-IN" b="0" i="0" u="none" strike="noStrike" dirty="0">
              <a:effectLst/>
              <a:latin typeface="Times New Roman" panose="02020603050405020304" pitchFamily="18" charset="0"/>
              <a:cs typeface="Times New Roman" panose="02020603050405020304"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Research Gap  Identification</a:t>
            </a:r>
            <a:endParaRPr lang="en-IN" b="0" i="0" u="none" strike="noStrike" dirty="0">
              <a:effectLst/>
              <a:latin typeface="Times New Roman" panose="02020603050405020304" pitchFamily="18" charset="0"/>
              <a:cs typeface="Times New Roman" panose="02020603050405020304"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Innovation</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Creativity</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Novelty</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Feasibility</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Project </a:t>
            </a:r>
            <a:r>
              <a:rPr lang="en-US" dirty="0" err="1">
                <a:solidFill>
                  <a:srgbClr val="000000"/>
                </a:solidFill>
                <a:latin typeface="Times New Roman" panose="02020603050405020304" pitchFamily="18" charset="0"/>
                <a:cs typeface="Times New Roman" panose="02020603050405020304" pitchFamily="18" charset="0"/>
              </a:rPr>
              <a:t>WorkFlow</a:t>
            </a:r>
            <a:endParaRPr lang="en-US" dirty="0">
              <a:solidFill>
                <a:srgbClr val="000000"/>
              </a:solidFill>
              <a:latin typeface="Times New Roman" panose="02020603050405020304" pitchFamily="18" charset="0"/>
              <a:cs typeface="Times New Roman" panose="02020603050405020304"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Project Plan</a:t>
            </a:r>
          </a:p>
          <a:p>
            <a:pPr algn="l" rtl="0" eaLnBrk="1" fontAlgn="t" latinLnBrk="0" hangingPunct="1">
              <a:lnSpc>
                <a:spcPct val="107000"/>
              </a:lnSpc>
              <a:spcBef>
                <a:spcPts val="0"/>
              </a:spcBef>
              <a:spcAft>
                <a:spcPts val="800"/>
              </a:spcAft>
            </a:pPr>
            <a:endParaRPr lang="en-IN" b="0" i="0" u="none" strike="noStrike" dirty="0">
              <a:effectLst/>
              <a:latin typeface="Times New Roman" panose="02020603050405020304" pitchFamily="18" charset="0"/>
              <a:cs typeface="Times New Roman" panose="02020603050405020304" pitchFamily="18"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65078A58-6A66-8B6F-D0CB-F6E7C730B66C}"/>
              </a:ext>
            </a:extLst>
          </p:cNvPr>
          <p:cNvSpPr txBox="1"/>
          <p:nvPr/>
        </p:nvSpPr>
        <p:spPr>
          <a:xfrm>
            <a:off x="602183" y="1646853"/>
            <a:ext cx="11254153" cy="4480073"/>
          </a:xfrm>
          <a:prstGeom prst="rect">
            <a:avLst/>
          </a:prstGeom>
          <a:noFill/>
        </p:spPr>
        <p:txBody>
          <a:bodyPr wrap="square">
            <a:spAutoFit/>
          </a:bodyPr>
          <a:lstStyle/>
          <a:p>
            <a:pPr algn="just">
              <a:lnSpc>
                <a:spcPct val="150000"/>
              </a:lnSpc>
            </a:pPr>
            <a:r>
              <a:rPr lang="en-IN" sz="1600" b="1" dirty="0"/>
              <a:t>Abstract</a:t>
            </a:r>
          </a:p>
          <a:p>
            <a:pPr algn="just">
              <a:lnSpc>
                <a:spcPct val="150000"/>
              </a:lnSpc>
            </a:pPr>
            <a:endParaRPr lang="en-IN" sz="1600" dirty="0"/>
          </a:p>
          <a:p>
            <a:pPr algn="just">
              <a:lnSpc>
                <a:spcPct val="150000"/>
              </a:lnSpc>
            </a:pPr>
            <a:r>
              <a:rPr lang="en-IN" sz="1600" dirty="0"/>
              <a:t>Customer segmentation is an important technique in data analytics that helps businesses understand customer </a:t>
            </a:r>
            <a:r>
              <a:rPr lang="en-IN" sz="1600" dirty="0" err="1"/>
              <a:t>behavior</a:t>
            </a:r>
            <a:r>
              <a:rPr lang="en-IN" sz="1600" dirty="0"/>
              <a:t> and develop targeted marketing strategies. The proposed </a:t>
            </a:r>
            <a:r>
              <a:rPr lang="en-IN" sz="1600" b="1" dirty="0"/>
              <a:t>Customer Segmentation Analytics Dashboard</a:t>
            </a:r>
            <a:r>
              <a:rPr lang="en-IN" sz="1600" dirty="0"/>
              <a:t> provides an interactive platform for comparing multiple clustering algorithms, including </a:t>
            </a:r>
            <a:r>
              <a:rPr lang="en-IN" sz="1600" b="1" dirty="0"/>
              <a:t>K-Means, Mini-Batch K-Means, DBSCAN, OPTICS, BIRCH, Spectral Clustering, and Fuzzy C-Means (FCM)</a:t>
            </a:r>
            <a:r>
              <a:rPr lang="en-IN" sz="1600" dirty="0"/>
              <a:t>. The system is developed using </a:t>
            </a:r>
            <a:r>
              <a:rPr lang="en-IN" sz="1600" b="1" dirty="0"/>
              <a:t>Python and </a:t>
            </a:r>
            <a:r>
              <a:rPr lang="en-IN" sz="1600" b="1" dirty="0" err="1"/>
              <a:t>Streamlit</a:t>
            </a:r>
            <a:r>
              <a:rPr lang="en-IN" sz="1600" dirty="0"/>
              <a:t>, allowing users to upload customer datasets, preprocess the data, apply different clustering techniques, and </a:t>
            </a:r>
            <a:r>
              <a:rPr lang="en-IN" sz="1600" dirty="0" err="1"/>
              <a:t>analyze</a:t>
            </a:r>
            <a:r>
              <a:rPr lang="en-IN" sz="1600" dirty="0"/>
              <a:t> their performance. The clustering results are evaluated using </a:t>
            </a:r>
            <a:r>
              <a:rPr lang="en-IN" sz="1600" b="1" dirty="0"/>
              <a:t>Silhouette Score, Davies–Bouldin Index, and execution time</a:t>
            </a:r>
            <a:r>
              <a:rPr lang="en-IN" sz="1600" dirty="0"/>
              <a:t> to determine the most suitable algorithm for a given dataset. The dashboard also provides interactive visualizations, customer segment profiles, business insights, and options to download the clustered dataset and analysis report. By providing a comparative analysis of different clustering approaches, the proposed system helps identify effective customer segmentation techniques and supports </a:t>
            </a:r>
            <a:r>
              <a:rPr lang="en-IN" sz="1600" b="1" dirty="0"/>
              <a:t>data-driven business decision-making</a:t>
            </a:r>
            <a:r>
              <a:rPr lang="en-IN" sz="1600" dirty="0"/>
              <a:t>.</a:t>
            </a:r>
          </a:p>
          <a:p>
            <a:pPr marL="171450" indent="-171450" algn="just">
              <a:lnSpc>
                <a:spcPct val="15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1" y="188780"/>
            <a:ext cx="6871855" cy="584775"/>
          </a:xfrm>
          <a:prstGeom prst="rect">
            <a:avLst/>
          </a:prstGeom>
          <a:noFill/>
        </p:spPr>
        <p:txBody>
          <a:bodyPr wrap="square" rtlCol="0">
            <a:spAutoFit/>
          </a:bodyPr>
          <a:lstStyle/>
          <a:p>
            <a:pPr algn="ctr"/>
            <a:r>
              <a:rPr lang="en-US" sz="3200" b="1" dirty="0">
                <a:solidFill>
                  <a:schemeClr val="bg1"/>
                </a:solidFill>
              </a:rPr>
              <a:t>Problem Statement</a:t>
            </a:r>
          </a:p>
        </p:txBody>
      </p:sp>
      <p:sp>
        <p:nvSpPr>
          <p:cNvPr id="5" name="TextBox 4">
            <a:extLst>
              <a:ext uri="{FF2B5EF4-FFF2-40B4-BE49-F238E27FC236}">
                <a16:creationId xmlns:a16="http://schemas.microsoft.com/office/drawing/2014/main" id="{E347E65F-A722-8232-E70C-F1EEB73CF4B1}"/>
              </a:ext>
            </a:extLst>
          </p:cNvPr>
          <p:cNvSpPr txBox="1"/>
          <p:nvPr/>
        </p:nvSpPr>
        <p:spPr>
          <a:xfrm>
            <a:off x="581606" y="2360646"/>
            <a:ext cx="11028784" cy="2750112"/>
          </a:xfrm>
          <a:prstGeom prst="rect">
            <a:avLst/>
          </a:prstGeom>
          <a:noFill/>
        </p:spPr>
        <p:txBody>
          <a:bodyPr wrap="square">
            <a:spAutoFit/>
          </a:bodyPr>
          <a:lstStyle/>
          <a:p>
            <a:pPr algn="just">
              <a:lnSpc>
                <a:spcPct val="250000"/>
              </a:lnSpc>
            </a:pPr>
            <a:r>
              <a:rPr lang="en-IN" dirty="0">
                <a:latin typeface="Times New Roman" panose="02020603050405020304" pitchFamily="18" charset="0"/>
                <a:cs typeface="Times New Roman" panose="02020603050405020304" pitchFamily="18" charset="0"/>
              </a:rPr>
              <a:t>Businesses collect large amounts of customer data, but identifying meaningful customer groups can be challenging.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Different clustering algorithms may produce different segmentation results. This project develops an interactive dashboard to compare multiple clustering techniques. Performance metrics and visualizations are used to identify the most suitable algorithm. The system provides customer insights to support better data-driven business decisions.</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Literacy survey</a:t>
            </a:r>
          </a:p>
        </p:txBody>
      </p:sp>
      <p:graphicFrame>
        <p:nvGraphicFramePr>
          <p:cNvPr id="6" name="Table 5">
            <a:extLst>
              <a:ext uri="{FF2B5EF4-FFF2-40B4-BE49-F238E27FC236}">
                <a16:creationId xmlns:a16="http://schemas.microsoft.com/office/drawing/2014/main" id="{9E5B9AAD-FC66-46ED-B0D8-5BFB371C7B6F}"/>
              </a:ext>
            </a:extLst>
          </p:cNvPr>
          <p:cNvGraphicFramePr>
            <a:graphicFrameLocks noGrp="1"/>
          </p:cNvGraphicFramePr>
          <p:nvPr>
            <p:extLst>
              <p:ext uri="{D42A27DB-BD31-4B8C-83A1-F6EECF244321}">
                <p14:modId xmlns:p14="http://schemas.microsoft.com/office/powerpoint/2010/main" val="1270463965"/>
              </p:ext>
            </p:extLst>
          </p:nvPr>
        </p:nvGraphicFramePr>
        <p:xfrm>
          <a:off x="1097900" y="1431299"/>
          <a:ext cx="9660296" cy="5308895"/>
        </p:xfrm>
        <a:graphic>
          <a:graphicData uri="http://schemas.openxmlformats.org/drawingml/2006/table">
            <a:tbl>
              <a:tblPr>
                <a:tableStyleId>{5C22544A-7EE6-4342-B048-85BDC9FD1C3A}</a:tableStyleId>
              </a:tblPr>
              <a:tblGrid>
                <a:gridCol w="2415074">
                  <a:extLst>
                    <a:ext uri="{9D8B030D-6E8A-4147-A177-3AD203B41FA5}">
                      <a16:colId xmlns:a16="http://schemas.microsoft.com/office/drawing/2014/main" val="3740014946"/>
                    </a:ext>
                  </a:extLst>
                </a:gridCol>
                <a:gridCol w="2415074">
                  <a:extLst>
                    <a:ext uri="{9D8B030D-6E8A-4147-A177-3AD203B41FA5}">
                      <a16:colId xmlns:a16="http://schemas.microsoft.com/office/drawing/2014/main" val="2527634954"/>
                    </a:ext>
                  </a:extLst>
                </a:gridCol>
                <a:gridCol w="2415074">
                  <a:extLst>
                    <a:ext uri="{9D8B030D-6E8A-4147-A177-3AD203B41FA5}">
                      <a16:colId xmlns:a16="http://schemas.microsoft.com/office/drawing/2014/main" val="3740456712"/>
                    </a:ext>
                  </a:extLst>
                </a:gridCol>
                <a:gridCol w="2415074">
                  <a:extLst>
                    <a:ext uri="{9D8B030D-6E8A-4147-A177-3AD203B41FA5}">
                      <a16:colId xmlns:a16="http://schemas.microsoft.com/office/drawing/2014/main" val="1994384583"/>
                    </a:ext>
                  </a:extLst>
                </a:gridCol>
              </a:tblGrid>
              <a:tr h="557018">
                <a:tc>
                  <a:txBody>
                    <a:bodyPr/>
                    <a:lstStyle/>
                    <a:p>
                      <a:pPr>
                        <a:buNone/>
                      </a:pPr>
                      <a:r>
                        <a:rPr lang="en-IN" b="1" dirty="0">
                          <a:latin typeface="Times New Roman" panose="02020603050405020304" pitchFamily="18" charset="0"/>
                          <a:cs typeface="Times New Roman" panose="02020603050405020304" pitchFamily="18" charset="0"/>
                        </a:rPr>
                        <a:t>Customer Segmentation Using K-Means (2021)</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K-Means</a:t>
                      </a:r>
                    </a:p>
                  </a:txBody>
                  <a:tcPr anchor="ctr"/>
                </a:tc>
                <a:tc>
                  <a:txBody>
                    <a:bodyPr/>
                    <a:lstStyle/>
                    <a:p>
                      <a:pPr>
                        <a:buNone/>
                      </a:pPr>
                      <a:r>
                        <a:rPr lang="en-IN">
                          <a:latin typeface="Times New Roman" panose="02020603050405020304" pitchFamily="18" charset="0"/>
                          <a:cs typeface="Times New Roman" panose="02020603050405020304" pitchFamily="18" charset="0"/>
                        </a:rPr>
                        <a:t>Groups customers based on behavior.</a:t>
                      </a:r>
                    </a:p>
                  </a:txBody>
                  <a:tcPr anchor="ctr"/>
                </a:tc>
                <a:tc>
                  <a:txBody>
                    <a:bodyPr/>
                    <a:lstStyle/>
                    <a:p>
                      <a:pPr>
                        <a:buNone/>
                      </a:pPr>
                      <a:r>
                        <a:rPr lang="en-IN">
                          <a:latin typeface="Times New Roman" panose="02020603050405020304" pitchFamily="18" charset="0"/>
                          <a:cs typeface="Times New Roman" panose="02020603050405020304" pitchFamily="18" charset="0"/>
                        </a:rPr>
                        <a:t>Uses only one algorithm.</a:t>
                      </a:r>
                    </a:p>
                  </a:txBody>
                  <a:tcPr anchor="ctr"/>
                </a:tc>
                <a:extLst>
                  <a:ext uri="{0D108BD9-81ED-4DB2-BD59-A6C34878D82A}">
                    <a16:rowId xmlns:a16="http://schemas.microsoft.com/office/drawing/2014/main" val="2742706448"/>
                  </a:ext>
                </a:extLst>
              </a:tr>
              <a:tr h="819957">
                <a:tc>
                  <a:txBody>
                    <a:bodyPr/>
                    <a:lstStyle/>
                    <a:p>
                      <a:pPr>
                        <a:buNone/>
                      </a:pPr>
                      <a:r>
                        <a:rPr lang="en-IN" b="1" dirty="0">
                          <a:latin typeface="Times New Roman" panose="02020603050405020304" pitchFamily="18" charset="0"/>
                          <a:cs typeface="Times New Roman" panose="02020603050405020304" pitchFamily="18" charset="0"/>
                        </a:rPr>
                        <a:t>Customer Segmentation Using Machine Learning (2022)</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K-Means, DBSCAN</a:t>
                      </a:r>
                    </a:p>
                  </a:txBody>
                  <a:tcPr anchor="ctr"/>
                </a:tc>
                <a:tc>
                  <a:txBody>
                    <a:bodyPr/>
                    <a:lstStyle/>
                    <a:p>
                      <a:pPr>
                        <a:buNone/>
                      </a:pPr>
                      <a:r>
                        <a:rPr lang="en-IN">
                          <a:latin typeface="Times New Roman" panose="02020603050405020304" pitchFamily="18" charset="0"/>
                          <a:cs typeface="Times New Roman" panose="02020603050405020304" pitchFamily="18" charset="0"/>
                        </a:rPr>
                        <a:t>Identifies customer segments.</a:t>
                      </a:r>
                    </a:p>
                  </a:txBody>
                  <a:tcPr anchor="ctr"/>
                </a:tc>
                <a:tc>
                  <a:txBody>
                    <a:bodyPr/>
                    <a:lstStyle/>
                    <a:p>
                      <a:pPr>
                        <a:buNone/>
                      </a:pPr>
                      <a:r>
                        <a:rPr lang="en-IN">
                          <a:latin typeface="Times New Roman" panose="02020603050405020304" pitchFamily="18" charset="0"/>
                          <a:cs typeface="Times New Roman" panose="02020603050405020304" pitchFamily="18" charset="0"/>
                        </a:rPr>
                        <a:t>Limited algorithm comparison.</a:t>
                      </a:r>
                    </a:p>
                  </a:txBody>
                  <a:tcPr anchor="ctr"/>
                </a:tc>
                <a:extLst>
                  <a:ext uri="{0D108BD9-81ED-4DB2-BD59-A6C34878D82A}">
                    <a16:rowId xmlns:a16="http://schemas.microsoft.com/office/drawing/2014/main" val="2377232246"/>
                  </a:ext>
                </a:extLst>
              </a:tr>
              <a:tr h="819957">
                <a:tc>
                  <a:txBody>
                    <a:bodyPr/>
                    <a:lstStyle/>
                    <a:p>
                      <a:pPr>
                        <a:buNone/>
                      </a:pPr>
                      <a:r>
                        <a:rPr lang="en-IN" b="1">
                          <a:latin typeface="Times New Roman" panose="02020603050405020304" pitchFamily="18" charset="0"/>
                          <a:cs typeface="Times New Roman" panose="02020603050405020304" pitchFamily="18" charset="0"/>
                        </a:rPr>
                        <a:t>Comparative Study of Clustering Algorithms (2023)</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K-Means, DBSCAN, Hierarchical</a:t>
                      </a:r>
                    </a:p>
                  </a:txBody>
                  <a:tcPr anchor="ctr"/>
                </a:tc>
                <a:tc>
                  <a:txBody>
                    <a:bodyPr/>
                    <a:lstStyle/>
                    <a:p>
                      <a:pPr>
                        <a:buNone/>
                      </a:pPr>
                      <a:r>
                        <a:rPr lang="en-IN">
                          <a:latin typeface="Times New Roman" panose="02020603050405020304" pitchFamily="18" charset="0"/>
                          <a:cs typeface="Times New Roman" panose="02020603050405020304" pitchFamily="18" charset="0"/>
                        </a:rPr>
                        <a:t>Compares clustering performance.</a:t>
                      </a:r>
                    </a:p>
                  </a:txBody>
                  <a:tcPr anchor="ctr"/>
                </a:tc>
                <a:tc>
                  <a:txBody>
                    <a:bodyPr/>
                    <a:lstStyle/>
                    <a:p>
                      <a:pPr>
                        <a:buNone/>
                      </a:pPr>
                      <a:r>
                        <a:rPr lang="en-IN">
                          <a:latin typeface="Times New Roman" panose="02020603050405020304" pitchFamily="18" charset="0"/>
                          <a:cs typeface="Times New Roman" panose="02020603050405020304" pitchFamily="18" charset="0"/>
                        </a:rPr>
                        <a:t>Few algorithms considered.</a:t>
                      </a:r>
                    </a:p>
                  </a:txBody>
                  <a:tcPr anchor="ctr"/>
                </a:tc>
                <a:extLst>
                  <a:ext uri="{0D108BD9-81ED-4DB2-BD59-A6C34878D82A}">
                    <a16:rowId xmlns:a16="http://schemas.microsoft.com/office/drawing/2014/main" val="201220958"/>
                  </a:ext>
                </a:extLst>
              </a:tr>
              <a:tr h="819957">
                <a:tc>
                  <a:txBody>
                    <a:bodyPr/>
                    <a:lstStyle/>
                    <a:p>
                      <a:pPr>
                        <a:buNone/>
                      </a:pPr>
                      <a:r>
                        <a:rPr lang="en-IN" b="1">
                          <a:latin typeface="Times New Roman" panose="02020603050405020304" pitchFamily="18" charset="0"/>
                          <a:cs typeface="Times New Roman" panose="02020603050405020304" pitchFamily="18" charset="0"/>
                        </a:rPr>
                        <a:t>Advanced Customer Segmentation (2024)</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K-Means, BIRCH, DBSCAN</a:t>
                      </a:r>
                    </a:p>
                  </a:txBody>
                  <a:tcPr anchor="ctr"/>
                </a:tc>
                <a:tc>
                  <a:txBody>
                    <a:bodyPr/>
                    <a:lstStyle/>
                    <a:p>
                      <a:pPr>
                        <a:buNone/>
                      </a:pPr>
                      <a:r>
                        <a:rPr lang="en-IN" dirty="0">
                          <a:latin typeface="Times New Roman" panose="02020603050405020304" pitchFamily="18" charset="0"/>
                          <a:cs typeface="Times New Roman" panose="02020603050405020304" pitchFamily="18" charset="0"/>
                        </a:rPr>
                        <a:t>Improves customer grouping.</a:t>
                      </a:r>
                    </a:p>
                  </a:txBody>
                  <a:tcPr anchor="ctr"/>
                </a:tc>
                <a:tc>
                  <a:txBody>
                    <a:bodyPr/>
                    <a:lstStyle/>
                    <a:p>
                      <a:pPr>
                        <a:buNone/>
                      </a:pPr>
                      <a:r>
                        <a:rPr lang="en-IN">
                          <a:latin typeface="Times New Roman" panose="02020603050405020304" pitchFamily="18" charset="0"/>
                          <a:cs typeface="Times New Roman" panose="02020603050405020304" pitchFamily="18" charset="0"/>
                        </a:rPr>
                        <a:t>Limited interactive analysis.</a:t>
                      </a:r>
                    </a:p>
                  </a:txBody>
                  <a:tcPr anchor="ctr"/>
                </a:tc>
                <a:extLst>
                  <a:ext uri="{0D108BD9-81ED-4DB2-BD59-A6C34878D82A}">
                    <a16:rowId xmlns:a16="http://schemas.microsoft.com/office/drawing/2014/main" val="1815655940"/>
                  </a:ext>
                </a:extLst>
              </a:tr>
              <a:tr h="819957">
                <a:tc>
                  <a:txBody>
                    <a:bodyPr/>
                    <a:lstStyle/>
                    <a:p>
                      <a:pPr>
                        <a:buNone/>
                      </a:pPr>
                      <a:r>
                        <a:rPr lang="en-IN" b="1">
                          <a:latin typeface="Times New Roman" panose="02020603050405020304" pitchFamily="18" charset="0"/>
                          <a:cs typeface="Times New Roman" panose="02020603050405020304" pitchFamily="18" charset="0"/>
                        </a:rPr>
                        <a:t>Customer Segmentation with Clustering (2025)</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K-Means, OPTICS, FCM</a:t>
                      </a:r>
                    </a:p>
                  </a:txBody>
                  <a:tcPr anchor="ctr"/>
                </a:tc>
                <a:tc>
                  <a:txBody>
                    <a:bodyPr/>
                    <a:lstStyle/>
                    <a:p>
                      <a:pPr>
                        <a:buNone/>
                      </a:pP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different customer groups.</a:t>
                      </a:r>
                    </a:p>
                  </a:txBody>
                  <a:tcPr anchor="ctr"/>
                </a:tc>
                <a:tc>
                  <a:txBody>
                    <a:bodyPr/>
                    <a:lstStyle/>
                    <a:p>
                      <a:pPr>
                        <a:buNone/>
                      </a:pPr>
                      <a:r>
                        <a:rPr lang="en-IN" dirty="0">
                          <a:latin typeface="Times New Roman" panose="02020603050405020304" pitchFamily="18" charset="0"/>
                          <a:cs typeface="Times New Roman" panose="02020603050405020304" pitchFamily="18" charset="0"/>
                        </a:rPr>
                        <a:t>No complete dashboard.</a:t>
                      </a:r>
                    </a:p>
                  </a:txBody>
                  <a:tcPr anchor="ctr"/>
                </a:tc>
                <a:extLst>
                  <a:ext uri="{0D108BD9-81ED-4DB2-BD59-A6C34878D82A}">
                    <a16:rowId xmlns:a16="http://schemas.microsoft.com/office/drawing/2014/main" val="3042119653"/>
                  </a:ext>
                </a:extLst>
              </a:tr>
              <a:tr h="557018">
                <a:tc>
                  <a:txBody>
                    <a:bodyPr/>
                    <a:lstStyle/>
                    <a:p>
                      <a:pPr>
                        <a:lnSpc>
                          <a:spcPct val="150000"/>
                        </a:lnSpc>
                        <a:buNone/>
                      </a:pPr>
                      <a:endParaRPr lang="en-IN" sz="1300" dirty="0"/>
                    </a:p>
                  </a:txBody>
                  <a:tcPr marL="65929" marR="65929" marT="32965" marB="32965" anchor="ctr"/>
                </a:tc>
                <a:tc>
                  <a:txBody>
                    <a:bodyPr/>
                    <a:lstStyle/>
                    <a:p>
                      <a:pPr>
                        <a:lnSpc>
                          <a:spcPct val="150000"/>
                        </a:lnSpc>
                        <a:buNone/>
                      </a:pPr>
                      <a:endParaRPr lang="en-IN" sz="1300" dirty="0"/>
                    </a:p>
                  </a:txBody>
                  <a:tcPr marL="65929" marR="65929" marT="32965" marB="32965" anchor="ctr"/>
                </a:tc>
                <a:tc>
                  <a:txBody>
                    <a:bodyPr/>
                    <a:lstStyle/>
                    <a:p>
                      <a:pPr>
                        <a:lnSpc>
                          <a:spcPct val="150000"/>
                        </a:lnSpc>
                        <a:buNone/>
                      </a:pPr>
                      <a:endParaRPr lang="en-IN" sz="1300"/>
                    </a:p>
                  </a:txBody>
                  <a:tcPr marL="65929" marR="65929" marT="32965" marB="32965" anchor="ctr"/>
                </a:tc>
                <a:tc>
                  <a:txBody>
                    <a:bodyPr/>
                    <a:lstStyle/>
                    <a:p>
                      <a:pPr>
                        <a:lnSpc>
                          <a:spcPct val="150000"/>
                        </a:lnSpc>
                        <a:buNone/>
                      </a:pPr>
                      <a:endParaRPr lang="en-IN" sz="1300" dirty="0"/>
                    </a:p>
                  </a:txBody>
                  <a:tcPr marL="65929" marR="65929" marT="32965" marB="32965" anchor="ctr"/>
                </a:tc>
                <a:extLst>
                  <a:ext uri="{0D108BD9-81ED-4DB2-BD59-A6C34878D82A}">
                    <a16:rowId xmlns:a16="http://schemas.microsoft.com/office/drawing/2014/main" val="3847429240"/>
                  </a:ext>
                </a:extLst>
              </a:tr>
            </a:tbl>
          </a:graphicData>
        </a:graphic>
      </p:graphicFrame>
      <p:graphicFrame>
        <p:nvGraphicFramePr>
          <p:cNvPr id="10" name="Table 9">
            <a:extLst>
              <a:ext uri="{FF2B5EF4-FFF2-40B4-BE49-F238E27FC236}">
                <a16:creationId xmlns:a16="http://schemas.microsoft.com/office/drawing/2014/main" id="{799C727E-6180-1A74-BD5B-383FB865FC62}"/>
              </a:ext>
            </a:extLst>
          </p:cNvPr>
          <p:cNvGraphicFramePr>
            <a:graphicFrameLocks noGrp="1"/>
          </p:cNvGraphicFramePr>
          <p:nvPr>
            <p:extLst>
              <p:ext uri="{D42A27DB-BD31-4B8C-83A1-F6EECF244321}">
                <p14:modId xmlns:p14="http://schemas.microsoft.com/office/powerpoint/2010/main" val="1575356176"/>
              </p:ext>
            </p:extLst>
          </p:nvPr>
        </p:nvGraphicFramePr>
        <p:xfrm>
          <a:off x="1097900" y="1060459"/>
          <a:ext cx="9660295" cy="370840"/>
        </p:xfrm>
        <a:graphic>
          <a:graphicData uri="http://schemas.openxmlformats.org/drawingml/2006/table">
            <a:tbl>
              <a:tblPr firstRow="1" bandRow="1">
                <a:tableStyleId>{5C22544A-7EE6-4342-B048-85BDC9FD1C3A}</a:tableStyleId>
              </a:tblPr>
              <a:tblGrid>
                <a:gridCol w="9660295">
                  <a:extLst>
                    <a:ext uri="{9D8B030D-6E8A-4147-A177-3AD203B41FA5}">
                      <a16:colId xmlns:a16="http://schemas.microsoft.com/office/drawing/2014/main" val="2123066867"/>
                    </a:ext>
                  </a:extLst>
                </a:gridCol>
              </a:tblGrid>
              <a:tr h="370840">
                <a:tc>
                  <a:txBody>
                    <a:bodyPr/>
                    <a:lstStyle/>
                    <a:p>
                      <a:endParaRPr lang="en-IN" dirty="0"/>
                    </a:p>
                  </a:txBody>
                  <a:tcPr/>
                </a:tc>
                <a:extLst>
                  <a:ext uri="{0D108BD9-81ED-4DB2-BD59-A6C34878D82A}">
                    <a16:rowId xmlns:a16="http://schemas.microsoft.com/office/drawing/2014/main" val="147826397"/>
                  </a:ext>
                </a:extLst>
              </a:tr>
            </a:tbl>
          </a:graphicData>
        </a:graphic>
      </p:graphicFrame>
      <p:graphicFrame>
        <p:nvGraphicFramePr>
          <p:cNvPr id="4" name="Table 3">
            <a:extLst>
              <a:ext uri="{FF2B5EF4-FFF2-40B4-BE49-F238E27FC236}">
                <a16:creationId xmlns:a16="http://schemas.microsoft.com/office/drawing/2014/main" id="{07C3453B-3358-BD2F-8E24-B562AC3638B8}"/>
              </a:ext>
            </a:extLst>
          </p:cNvPr>
          <p:cNvGraphicFramePr>
            <a:graphicFrameLocks noGrp="1"/>
          </p:cNvGraphicFramePr>
          <p:nvPr>
            <p:extLst>
              <p:ext uri="{D42A27DB-BD31-4B8C-83A1-F6EECF244321}">
                <p14:modId xmlns:p14="http://schemas.microsoft.com/office/powerpoint/2010/main" val="1393436764"/>
              </p:ext>
            </p:extLst>
          </p:nvPr>
        </p:nvGraphicFramePr>
        <p:xfrm>
          <a:off x="1183640" y="1035004"/>
          <a:ext cx="10515600" cy="365760"/>
        </p:xfrm>
        <a:graphic>
          <a:graphicData uri="http://schemas.openxmlformats.org/drawingml/2006/table">
            <a:tbl>
              <a:tblPr/>
              <a:tblGrid>
                <a:gridCol w="2628900">
                  <a:extLst>
                    <a:ext uri="{9D8B030D-6E8A-4147-A177-3AD203B41FA5}">
                      <a16:colId xmlns:a16="http://schemas.microsoft.com/office/drawing/2014/main" val="2861671960"/>
                    </a:ext>
                  </a:extLst>
                </a:gridCol>
                <a:gridCol w="2628900">
                  <a:extLst>
                    <a:ext uri="{9D8B030D-6E8A-4147-A177-3AD203B41FA5}">
                      <a16:colId xmlns:a16="http://schemas.microsoft.com/office/drawing/2014/main" val="2577058183"/>
                    </a:ext>
                  </a:extLst>
                </a:gridCol>
                <a:gridCol w="2628900">
                  <a:extLst>
                    <a:ext uri="{9D8B030D-6E8A-4147-A177-3AD203B41FA5}">
                      <a16:colId xmlns:a16="http://schemas.microsoft.com/office/drawing/2014/main" val="3758762193"/>
                    </a:ext>
                  </a:extLst>
                </a:gridCol>
                <a:gridCol w="2628900">
                  <a:extLst>
                    <a:ext uri="{9D8B030D-6E8A-4147-A177-3AD203B41FA5}">
                      <a16:colId xmlns:a16="http://schemas.microsoft.com/office/drawing/2014/main" val="802326986"/>
                    </a:ext>
                  </a:extLst>
                </a:gridCol>
              </a:tblGrid>
              <a:tr h="0">
                <a:tc>
                  <a:txBody>
                    <a:bodyPr/>
                    <a:lstStyle/>
                    <a:p>
                      <a:pPr>
                        <a:buNone/>
                      </a:pPr>
                      <a:r>
                        <a:rPr lang="en-IN" b="1"/>
                        <a:t>Research Paper</a:t>
                      </a:r>
                      <a:endParaRPr lang="en-IN"/>
                    </a:p>
                  </a:txBody>
                  <a:tcPr anchor="ctr">
                    <a:lnL>
                      <a:noFill/>
                    </a:lnL>
                    <a:lnR>
                      <a:noFill/>
                    </a:lnR>
                    <a:lnT>
                      <a:noFill/>
                    </a:lnT>
                    <a:lnB>
                      <a:noFill/>
                    </a:lnB>
                    <a:noFill/>
                  </a:tcPr>
                </a:tc>
                <a:tc>
                  <a:txBody>
                    <a:bodyPr/>
                    <a:lstStyle/>
                    <a:p>
                      <a:pPr>
                        <a:buNone/>
                      </a:pPr>
                      <a:r>
                        <a:rPr lang="en-IN" b="1" dirty="0"/>
                        <a:t>Techniques Used</a:t>
                      </a:r>
                      <a:endParaRPr lang="en-IN" dirty="0"/>
                    </a:p>
                  </a:txBody>
                  <a:tcPr anchor="ctr">
                    <a:lnL>
                      <a:noFill/>
                    </a:lnL>
                    <a:lnR>
                      <a:noFill/>
                    </a:lnR>
                    <a:lnT>
                      <a:noFill/>
                    </a:lnT>
                    <a:lnB>
                      <a:noFill/>
                    </a:lnB>
                    <a:noFill/>
                  </a:tcPr>
                </a:tc>
                <a:tc>
                  <a:txBody>
                    <a:bodyPr/>
                    <a:lstStyle/>
                    <a:p>
                      <a:pPr>
                        <a:buNone/>
                      </a:pPr>
                      <a:r>
                        <a:rPr lang="en-IN" b="1"/>
                        <a:t>Purpose</a:t>
                      </a:r>
                      <a:endParaRPr lang="en-IN"/>
                    </a:p>
                  </a:txBody>
                  <a:tcPr anchor="ctr">
                    <a:lnL>
                      <a:noFill/>
                    </a:lnL>
                    <a:lnR>
                      <a:noFill/>
                    </a:lnR>
                    <a:lnT>
                      <a:noFill/>
                    </a:lnT>
                    <a:lnB>
                      <a:noFill/>
                    </a:lnB>
                    <a:noFill/>
                  </a:tcPr>
                </a:tc>
                <a:tc>
                  <a:txBody>
                    <a:bodyPr/>
                    <a:lstStyle/>
                    <a:p>
                      <a:pPr>
                        <a:buNone/>
                      </a:pPr>
                      <a:r>
                        <a:rPr lang="en-IN" b="1" dirty="0"/>
                        <a:t>Limitation</a:t>
                      </a:r>
                      <a:endParaRPr lang="en-IN" dirty="0"/>
                    </a:p>
                  </a:txBody>
                  <a:tcPr anchor="ctr">
                    <a:lnL>
                      <a:noFill/>
                    </a:lnL>
                    <a:lnR>
                      <a:noFill/>
                    </a:lnR>
                    <a:lnT>
                      <a:noFill/>
                    </a:lnT>
                    <a:lnB>
                      <a:noFill/>
                    </a:lnB>
                    <a:noFill/>
                  </a:tcPr>
                </a:tc>
                <a:extLst>
                  <a:ext uri="{0D108BD9-81ED-4DB2-BD59-A6C34878D82A}">
                    <a16:rowId xmlns:a16="http://schemas.microsoft.com/office/drawing/2014/main" val="33952608"/>
                  </a:ext>
                </a:extLst>
              </a:tr>
            </a:tbl>
          </a:graphicData>
        </a:graphic>
      </p:graphicFrame>
    </p:spTree>
    <p:extLst>
      <p:ext uri="{BB962C8B-B14F-4D97-AF65-F5344CB8AC3E}">
        <p14:creationId xmlns:p14="http://schemas.microsoft.com/office/powerpoint/2010/main" val="3441026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0E8EB32-DFB9-70B5-2C1A-00074CFA6681}"/>
              </a:ext>
            </a:extLst>
          </p:cNvPr>
          <p:cNvSpPr>
            <a:spLocks noChangeArrowheads="1"/>
          </p:cNvSpPr>
          <p:nvPr/>
        </p:nvSpPr>
        <p:spPr bwMode="auto">
          <a:xfrm>
            <a:off x="662472" y="3017534"/>
            <a:ext cx="103633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7" name="TextBox 6">
            <a:extLst>
              <a:ext uri="{FF2B5EF4-FFF2-40B4-BE49-F238E27FC236}">
                <a16:creationId xmlns:a16="http://schemas.microsoft.com/office/drawing/2014/main" id="{C5EB7DA5-C0A9-6F74-966A-208A7A1C1A93}"/>
              </a:ext>
            </a:extLst>
          </p:cNvPr>
          <p:cNvSpPr txBox="1"/>
          <p:nvPr/>
        </p:nvSpPr>
        <p:spPr>
          <a:xfrm>
            <a:off x="3144413" y="248064"/>
            <a:ext cx="8780109" cy="3228063"/>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Research Gap Identification</a:t>
            </a:r>
          </a:p>
          <a:p>
            <a:pPr>
              <a:lnSpc>
                <a:spcPct val="150000"/>
              </a:lnSpc>
            </a:pPr>
            <a:r>
              <a:rPr lang="en-IN" dirty="0">
                <a:latin typeface="Times New Roman" panose="02020603050405020304" pitchFamily="18" charset="0"/>
                <a:cs typeface="Times New Roman" panose="02020603050405020304" pitchFamily="18" charset="0"/>
              </a:rPr>
              <a:t>From the literature survey, the following research gaps were identified:</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Many systems do not provide comprehensive performance comparisons using multiple metrics.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Most solutions lack an interactive and user-friendly dashboard.</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Limited systems provide both customer segment visualization and business insights in one platform.</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Existing studies compare only a limited number of clustering algorithms.</a:t>
            </a:r>
          </a:p>
        </p:txBody>
      </p:sp>
      <p:sp>
        <p:nvSpPr>
          <p:cNvPr id="9" name="TextBox 8">
            <a:extLst>
              <a:ext uri="{FF2B5EF4-FFF2-40B4-BE49-F238E27FC236}">
                <a16:creationId xmlns:a16="http://schemas.microsoft.com/office/drawing/2014/main" id="{7644C301-2406-4BDF-09A1-8EA3C1CEC91B}"/>
              </a:ext>
            </a:extLst>
          </p:cNvPr>
          <p:cNvSpPr txBox="1"/>
          <p:nvPr/>
        </p:nvSpPr>
        <p:spPr>
          <a:xfrm>
            <a:off x="404397" y="3093097"/>
            <a:ext cx="10879495" cy="4632037"/>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Innovation</a:t>
            </a:r>
          </a:p>
          <a:p>
            <a:pPr>
              <a:lnSpc>
                <a:spcPct val="200000"/>
              </a:lnSpc>
            </a:pPr>
            <a:r>
              <a:rPr lang="en-IN" dirty="0">
                <a:latin typeface="Times New Roman" panose="02020603050405020304" pitchFamily="18" charset="0"/>
                <a:cs typeface="Times New Roman" panose="02020603050405020304" pitchFamily="18" charset="0"/>
              </a:rPr>
              <a:t>The proposed system introduces:</a:t>
            </a:r>
          </a:p>
          <a:p>
            <a:pPr>
              <a:lnSpc>
                <a:spcPct val="200000"/>
              </a:lnSpc>
            </a:pPr>
            <a:r>
              <a:rPr lang="en-IN" dirty="0">
                <a:latin typeface="Times New Roman" panose="02020603050405020304" pitchFamily="18" charset="0"/>
                <a:cs typeface="Times New Roman" panose="02020603050405020304" pitchFamily="18" charset="0"/>
              </a:rPr>
              <a:t>• Evaluation using multiple performance metrics and execution time.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Interactive visualizations for easy understanding of customer segments.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Automatic customer segment profiles and business insights.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 user-friendly </a:t>
            </a:r>
            <a:r>
              <a:rPr lang="en-IN"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 dashboard with dataset and report download options.</a:t>
            </a:r>
          </a:p>
          <a:p>
            <a:pPr marL="285750" indent="-285750">
              <a:lnSpc>
                <a:spcPct val="20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Comparison of multiple clustering algorithms in a single platform.</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092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415616" y="154134"/>
            <a:ext cx="7808635" cy="584775"/>
          </a:xfrm>
          <a:prstGeom prst="rect">
            <a:avLst/>
          </a:prstGeom>
          <a:noFill/>
        </p:spPr>
        <p:txBody>
          <a:bodyPr wrap="square" rtlCol="0">
            <a:spAutoFit/>
          </a:bodyPr>
          <a:lstStyle/>
          <a:p>
            <a:pPr algn="ctr"/>
            <a:r>
              <a:rPr lang="en-US" sz="3200" b="1" dirty="0">
                <a:solidFill>
                  <a:schemeClr val="bg1"/>
                </a:solidFill>
              </a:rPr>
              <a:t>Objectives</a:t>
            </a:r>
          </a:p>
        </p:txBody>
      </p:sp>
      <p:sp>
        <p:nvSpPr>
          <p:cNvPr id="4" name="Rectangle 1">
            <a:extLst>
              <a:ext uri="{FF2B5EF4-FFF2-40B4-BE49-F238E27FC236}">
                <a16:creationId xmlns:a16="http://schemas.microsoft.com/office/drawing/2014/main" id="{DB9EB04F-FECD-A212-E715-01E5112D3C81}"/>
              </a:ext>
            </a:extLst>
          </p:cNvPr>
          <p:cNvSpPr>
            <a:spLocks noChangeArrowheads="1"/>
          </p:cNvSpPr>
          <p:nvPr/>
        </p:nvSpPr>
        <p:spPr bwMode="auto">
          <a:xfrm>
            <a:off x="615820" y="1173330"/>
            <a:ext cx="11744131"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b="1" dirty="0">
                <a:latin typeface="Times New Roman" panose="02020603050405020304" pitchFamily="18" charset="0"/>
                <a:cs typeface="Times New Roman" panose="02020603050405020304" pitchFamily="18" charset="0"/>
              </a:rPr>
              <a:t>Objectives</a:t>
            </a:r>
          </a:p>
          <a:p>
            <a:pPr>
              <a:lnSpc>
                <a:spcPct val="150000"/>
              </a:lnSpc>
            </a:pPr>
            <a:r>
              <a:rPr lang="en-IN" dirty="0">
                <a:latin typeface="Times New Roman" panose="02020603050405020304" pitchFamily="18" charset="0"/>
                <a:cs typeface="Times New Roman" panose="02020603050405020304" pitchFamily="18" charset="0"/>
              </a:rPr>
              <a:t>The main objectives of this project are:</a:t>
            </a:r>
          </a:p>
          <a:p>
            <a:pPr>
              <a:lnSpc>
                <a:spcPct val="150000"/>
              </a:lnSpc>
            </a:pPr>
            <a:r>
              <a:rPr lang="en-IN" dirty="0">
                <a:latin typeface="Times New Roman" panose="02020603050405020304" pitchFamily="18" charset="0"/>
                <a:cs typeface="Times New Roman" panose="02020603050405020304" pitchFamily="18" charset="0"/>
              </a:rPr>
              <a:t>• To develop an interactive Customer Segmentation Analytics Dashboard using Python and </a:t>
            </a:r>
            <a:r>
              <a:rPr lang="en-IN"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 apply multiple clustering algorithms such as K-Means, Mini-Batch K-Means, DBSCAN, OPTICS, BIRCH, Spectral Clustering, and Fuzzy C-Means (FCM).</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To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customer datasets for effective segmentation and then comparing clustering algorithms using Silhouette Score, Davies–Bouldin Index, </a:t>
            </a:r>
            <a:r>
              <a:rPr lang="en-IN" dirty="0" err="1">
                <a:latin typeface="Times New Roman" panose="02020603050405020304" pitchFamily="18" charset="0"/>
                <a:cs typeface="Times New Roman" panose="02020603050405020304" pitchFamily="18" charset="0"/>
              </a:rPr>
              <a:t>Calinski</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Harabasz</a:t>
            </a:r>
            <a:r>
              <a:rPr lang="en-IN" dirty="0">
                <a:latin typeface="Times New Roman" panose="02020603050405020304" pitchFamily="18" charset="0"/>
                <a:cs typeface="Times New Roman" panose="02020603050405020304" pitchFamily="18" charset="0"/>
              </a:rPr>
              <a:t> Index, and execution time.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To identify the most suitable clustering algorithm for a given customer dataset, then visualize customer clusters and generate meaningful customer segment profiles.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To provide business insights that support data-driven decision-making then allowing users to download the clustered dataset and analysis report.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FF3910A-D3E5-22FF-9AC2-A77556426F36}"/>
              </a:ext>
            </a:extLst>
          </p:cNvPr>
          <p:cNvSpPr txBox="1"/>
          <p:nvPr/>
        </p:nvSpPr>
        <p:spPr>
          <a:xfrm>
            <a:off x="3207399" y="517159"/>
            <a:ext cx="7177573" cy="5957400"/>
          </a:xfrm>
          <a:prstGeom prst="rect">
            <a:avLst/>
          </a:prstGeom>
          <a:noFill/>
        </p:spPr>
        <p:txBody>
          <a:bodyPr wrap="square">
            <a:spAutoFit/>
          </a:bodyPr>
          <a:lstStyle/>
          <a:p>
            <a:pPr>
              <a:lnSpc>
                <a:spcPct val="200000"/>
              </a:lnSpc>
            </a:pPr>
            <a:r>
              <a:rPr lang="en-IN" b="1" dirty="0">
                <a:latin typeface="Times New Roman" panose="02020603050405020304" pitchFamily="18" charset="0"/>
                <a:cs typeface="Times New Roman" panose="02020603050405020304" pitchFamily="18" charset="0"/>
              </a:rPr>
              <a:t>Creativity</a:t>
            </a:r>
          </a:p>
          <a:p>
            <a:pPr>
              <a:lnSpc>
                <a:spcPct val="200000"/>
              </a:lnSpc>
            </a:pPr>
            <a:r>
              <a:rPr lang="en-IN" dirty="0">
                <a:latin typeface="Times New Roman" panose="02020603050405020304" pitchFamily="18" charset="0"/>
                <a:cs typeface="Times New Roman" panose="02020603050405020304" pitchFamily="18" charset="0"/>
              </a:rPr>
              <a:t>The project combines multiple machine learning techniques with an interactive and user-friendly analytics platform.</a:t>
            </a:r>
          </a:p>
          <a:p>
            <a:pPr>
              <a:lnSpc>
                <a:spcPct val="200000"/>
              </a:lnSpc>
            </a:pPr>
            <a:r>
              <a:rPr lang="en-IN" dirty="0">
                <a:latin typeface="Times New Roman" panose="02020603050405020304" pitchFamily="18" charset="0"/>
                <a:cs typeface="Times New Roman" panose="02020603050405020304" pitchFamily="18" charset="0"/>
              </a:rPr>
              <a:t>Key creative features include:</a:t>
            </a:r>
          </a:p>
          <a:p>
            <a:pPr>
              <a:lnSpc>
                <a:spcPct val="200000"/>
              </a:lnSpc>
            </a:pPr>
            <a:r>
              <a:rPr lang="en-IN" dirty="0">
                <a:latin typeface="Times New Roman" panose="02020603050405020304" pitchFamily="18" charset="0"/>
                <a:cs typeface="Times New Roman" panose="02020603050405020304" pitchFamily="18" charset="0"/>
              </a:rPr>
              <a:t>• Multiple clustering algorithms in one dashboard and Interactive cluster visualizations.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Algorithm performance comparison </a:t>
            </a:r>
            <a:r>
              <a:rPr lang="en-IN" dirty="0" err="1">
                <a:latin typeface="Times New Roman" panose="02020603050405020304" pitchFamily="18" charset="0"/>
                <a:cs typeface="Times New Roman" panose="02020603050405020304" pitchFamily="18" charset="0"/>
              </a:rPr>
              <a:t>withAutomatic</a:t>
            </a:r>
            <a:r>
              <a:rPr lang="en-IN" dirty="0">
                <a:latin typeface="Times New Roman" panose="02020603050405020304" pitchFamily="18" charset="0"/>
                <a:cs typeface="Times New Roman" panose="02020603050405020304" pitchFamily="18" charset="0"/>
              </a:rPr>
              <a:t> customer segment profiling.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Business insights and recommendations with Dataset and report download </a:t>
            </a:r>
            <a:r>
              <a:rPr lang="en-IN">
                <a:latin typeface="Times New Roman" panose="02020603050405020304" pitchFamily="18" charset="0"/>
                <a:cs typeface="Times New Roman" panose="02020603050405020304" pitchFamily="18" charset="0"/>
              </a:rPr>
              <a:t>options then </a:t>
            </a:r>
            <a:r>
              <a:rPr lang="en-IN" dirty="0">
                <a:latin typeface="Times New Roman" panose="02020603050405020304" pitchFamily="18" charset="0"/>
                <a:cs typeface="Times New Roman" panose="02020603050405020304" pitchFamily="18" charset="0"/>
              </a:rPr>
              <a:t>Simple and responsive </a:t>
            </a:r>
            <a:r>
              <a:rPr lang="en-IN"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 interface.</a:t>
            </a:r>
          </a:p>
          <a:p>
            <a:pPr>
              <a:lnSpc>
                <a:spcPct val="15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275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F00390-288F-1C85-A34B-30E7BA4BC94D}"/>
              </a:ext>
            </a:extLst>
          </p:cNvPr>
          <p:cNvSpPr txBox="1"/>
          <p:nvPr/>
        </p:nvSpPr>
        <p:spPr>
          <a:xfrm>
            <a:off x="2939144" y="918376"/>
            <a:ext cx="9041362" cy="6326732"/>
          </a:xfrm>
          <a:prstGeom prst="rect">
            <a:avLst/>
          </a:prstGeom>
          <a:noFill/>
        </p:spPr>
        <p:txBody>
          <a:bodyPr wrap="square">
            <a:spAutoFit/>
          </a:bodyPr>
          <a:lstStyle/>
          <a:p>
            <a:pPr>
              <a:lnSpc>
                <a:spcPct val="200000"/>
              </a:lnSpc>
            </a:pPr>
            <a:r>
              <a:rPr lang="en-IN" sz="1600" b="1" dirty="0">
                <a:latin typeface="Times New Roman" panose="02020603050405020304" pitchFamily="18" charset="0"/>
                <a:cs typeface="Times New Roman" panose="02020603050405020304" pitchFamily="18" charset="0"/>
              </a:rPr>
              <a:t>INNOVATION/ Novelty</a:t>
            </a:r>
          </a:p>
          <a:p>
            <a:pPr>
              <a:lnSpc>
                <a:spcPct val="200000"/>
              </a:lnSpc>
            </a:pPr>
            <a:r>
              <a:rPr lang="en-IN" sz="1600" dirty="0">
                <a:latin typeface="Times New Roman" panose="02020603050405020304" pitchFamily="18" charset="0"/>
                <a:cs typeface="Times New Roman" panose="02020603050405020304" pitchFamily="18" charset="0"/>
              </a:rPr>
              <a:t>The uniqueness of this project lies in integrating:</a:t>
            </a:r>
          </a:p>
          <a:p>
            <a:pPr>
              <a:lnSpc>
                <a:spcPct val="200000"/>
              </a:lnSpc>
            </a:pPr>
            <a:r>
              <a:rPr lang="en-IN" sz="1600" dirty="0">
                <a:latin typeface="Times New Roman" panose="02020603050405020304" pitchFamily="18" charset="0"/>
                <a:cs typeface="Times New Roman" panose="02020603050405020304" pitchFamily="18" charset="0"/>
              </a:rPr>
              <a:t>• Multiple clustering algorithms in a single platform.</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Seven techniques including K-Means, DBSCAN, OPTICS, BIRCH, Spectral Clustering, Mini-Batch K-Means, and FCM. Multiple evaluation metrics for accurate algorithm comparison adding on a metric of </a:t>
            </a:r>
            <a:r>
              <a:rPr lang="en-IN" sz="1600" dirty="0" err="1">
                <a:latin typeface="Times New Roman" panose="02020603050405020304" pitchFamily="18" charset="0"/>
                <a:cs typeface="Times New Roman" panose="02020603050405020304" pitchFamily="18" charset="0"/>
              </a:rPr>
              <a:t>comparision</a:t>
            </a:r>
            <a:r>
              <a:rPr lang="en-IN" sz="1600" dirty="0">
                <a:latin typeface="Times New Roman" panose="02020603050405020304" pitchFamily="18" charset="0"/>
                <a:cs typeface="Times New Roman" panose="02020603050405020304" pitchFamily="18" charset="0"/>
              </a:rPr>
              <a:t> like execution time.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Interactive customer segment visualizations and profiles.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 complete interactive dashboard instead of a standalone clustering model.</a:t>
            </a:r>
          </a:p>
          <a:p>
            <a:pPr marL="285750" indent="-285750">
              <a:lnSpc>
                <a:spcPct val="20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Adding an summary section which describes a final decision</a:t>
            </a:r>
          </a:p>
          <a:p>
            <a:pPr>
              <a:lnSpc>
                <a:spcPct val="200000"/>
              </a:lnSpc>
            </a:pPr>
            <a:r>
              <a:rPr lang="en-IN" sz="1600" dirty="0">
                <a:latin typeface="Times New Roman" panose="02020603050405020304" pitchFamily="18" charset="0"/>
                <a:cs typeface="Times New Roman" panose="02020603050405020304" pitchFamily="18" charset="0"/>
              </a:rPr>
              <a:t>This combination makes customer segmentation easier to compare, understand, and apply for data-driven business decisions.</a:t>
            </a:r>
          </a:p>
          <a:p>
            <a:pPr>
              <a:lnSpc>
                <a:spcPct val="200000"/>
              </a:lnSpc>
            </a:pPr>
            <a:endParaRPr lang="en-IN" sz="1600" dirty="0">
              <a:latin typeface="Times New Roman" panose="02020603050405020304" pitchFamily="18" charset="0"/>
              <a:cs typeface="Times New Roman" panose="02020603050405020304" pitchFamily="18" charset="0"/>
            </a:endParaRPr>
          </a:p>
          <a:p>
            <a:pPr>
              <a:lnSpc>
                <a:spcPct val="150000"/>
              </a:lnSpc>
              <a:buNone/>
            </a:pP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010E39-C34F-2D90-E757-2B5373BF5544}"/>
              </a:ext>
            </a:extLst>
          </p:cNvPr>
          <p:cNvSpPr txBox="1"/>
          <p:nvPr/>
        </p:nvSpPr>
        <p:spPr>
          <a:xfrm>
            <a:off x="3254048" y="939988"/>
            <a:ext cx="8567837" cy="5341847"/>
          </a:xfrm>
          <a:prstGeom prst="rect">
            <a:avLst/>
          </a:prstGeom>
          <a:noFill/>
        </p:spPr>
        <p:txBody>
          <a:bodyPr wrap="square">
            <a:spAutoFit/>
          </a:bodyPr>
          <a:lstStyle/>
          <a:p>
            <a:pPr>
              <a:lnSpc>
                <a:spcPct val="200000"/>
              </a:lnSpc>
            </a:pPr>
            <a:r>
              <a:rPr lang="en-IN" sz="1600" b="1" dirty="0">
                <a:latin typeface="Times New Roman" panose="02020603050405020304" pitchFamily="18" charset="0"/>
                <a:cs typeface="Times New Roman" panose="02020603050405020304" pitchFamily="18" charset="0"/>
              </a:rPr>
              <a:t>Feasibility</a:t>
            </a:r>
          </a:p>
          <a:p>
            <a:pPr>
              <a:lnSpc>
                <a:spcPct val="200000"/>
              </a:lnSpc>
            </a:pPr>
            <a:r>
              <a:rPr lang="en-IN" sz="1600" dirty="0">
                <a:latin typeface="Times New Roman" panose="02020603050405020304" pitchFamily="18" charset="0"/>
                <a:cs typeface="Times New Roman" panose="02020603050405020304" pitchFamily="18" charset="0"/>
              </a:rPr>
              <a:t>The project is feasible because:</a:t>
            </a:r>
          </a:p>
          <a:p>
            <a:pPr>
              <a:lnSpc>
                <a:spcPct val="200000"/>
              </a:lnSpc>
            </a:pPr>
            <a:r>
              <a:rPr lang="en-IN" sz="1600" b="1" dirty="0">
                <a:latin typeface="Times New Roman" panose="02020603050405020304" pitchFamily="18" charset="0"/>
                <a:cs typeface="Times New Roman" panose="02020603050405020304" pitchFamily="18" charset="0"/>
              </a:rPr>
              <a:t>Technical Feasibility</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Uses open-source technologies such as Python, </a:t>
            </a:r>
            <a:r>
              <a:rPr lang="en-IN" sz="1600" dirty="0" err="1">
                <a:latin typeface="Times New Roman" panose="02020603050405020304" pitchFamily="18" charset="0"/>
                <a:cs typeface="Times New Roman" panose="02020603050405020304" pitchFamily="18" charset="0"/>
              </a:rPr>
              <a:t>Streamlit</a:t>
            </a:r>
            <a:r>
              <a:rPr lang="en-IN" sz="1600" dirty="0">
                <a:latin typeface="Times New Roman" panose="02020603050405020304" pitchFamily="18" charset="0"/>
                <a:cs typeface="Times New Roman" panose="02020603050405020304" pitchFamily="18" charset="0"/>
              </a:rPr>
              <a:t>, and Scikit-learn.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Clustering algorithms and evaluation metrics are readily available through Python libraries.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Can be developed using standard software tools.</a:t>
            </a:r>
          </a:p>
          <a:p>
            <a:pPr>
              <a:lnSpc>
                <a:spcPct val="200000"/>
              </a:lnSpc>
            </a:pPr>
            <a:r>
              <a:rPr lang="en-IN" sz="1600" b="1" dirty="0">
                <a:latin typeface="Times New Roman" panose="02020603050405020304" pitchFamily="18" charset="0"/>
                <a:cs typeface="Times New Roman" panose="02020603050405020304" pitchFamily="18" charset="0"/>
              </a:rPr>
              <a:t>Operational Feasibility</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Easy to use through an interactive dashboard.</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Suitable for students, researchers, and business users.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Can run on a normal laptop.</a:t>
            </a:r>
          </a:p>
          <a:p>
            <a:pPr>
              <a:lnSpc>
                <a:spcPct val="150000"/>
              </a:lnSpc>
              <a:buNone/>
            </a:pP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508311" y="202918"/>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Project workflow</a:t>
            </a:r>
            <a:endParaRPr lang="en-US" dirty="0"/>
          </a:p>
        </p:txBody>
      </p:sp>
      <p:sp>
        <p:nvSpPr>
          <p:cNvPr id="3" name="TextBox 2"/>
          <p:cNvSpPr txBox="1"/>
          <p:nvPr/>
        </p:nvSpPr>
        <p:spPr>
          <a:xfrm>
            <a:off x="3994349" y="1453598"/>
            <a:ext cx="6871855" cy="584775"/>
          </a:xfrm>
          <a:prstGeom prst="rect">
            <a:avLst/>
          </a:prstGeom>
          <a:noFill/>
        </p:spPr>
        <p:txBody>
          <a:bodyPr wrap="square" rtlCol="0">
            <a:spAutoFit/>
          </a:bodyPr>
          <a:lstStyle/>
          <a:p>
            <a:pPr algn="ctr"/>
            <a:r>
              <a:rPr lang="en-US" sz="3200" b="1" dirty="0">
                <a:solidFill>
                  <a:schemeClr val="bg1"/>
                </a:solidFill>
              </a:rPr>
              <a:t>Flow Chart </a:t>
            </a:r>
          </a:p>
        </p:txBody>
      </p:sp>
      <p:pic>
        <p:nvPicPr>
          <p:cNvPr id="6" name="Picture 5">
            <a:extLst>
              <a:ext uri="{FF2B5EF4-FFF2-40B4-BE49-F238E27FC236}">
                <a16:creationId xmlns:a16="http://schemas.microsoft.com/office/drawing/2014/main" id="{45368A91-2199-E55F-92C6-D7BDBD09945B}"/>
              </a:ext>
            </a:extLst>
          </p:cNvPr>
          <p:cNvPicPr>
            <a:picLocks noChangeAspect="1"/>
          </p:cNvPicPr>
          <p:nvPr/>
        </p:nvPicPr>
        <p:blipFill>
          <a:blip r:embed="rId2"/>
          <a:stretch>
            <a:fillRect/>
          </a:stretch>
        </p:blipFill>
        <p:spPr>
          <a:xfrm>
            <a:off x="3810000" y="792480"/>
            <a:ext cx="4572000" cy="586260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A8FF286C-3C98-9539-0548-FB664A3F2C12}"/>
              </a:ext>
            </a:extLst>
          </p:cNvPr>
          <p:cNvSpPr/>
          <p:nvPr/>
        </p:nvSpPr>
        <p:spPr>
          <a:xfrm>
            <a:off x="3462411" y="129104"/>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Project plan</a:t>
            </a:r>
          </a:p>
        </p:txBody>
      </p:sp>
      <p:graphicFrame>
        <p:nvGraphicFramePr>
          <p:cNvPr id="8" name="Table 7">
            <a:extLst>
              <a:ext uri="{FF2B5EF4-FFF2-40B4-BE49-F238E27FC236}">
                <a16:creationId xmlns:a16="http://schemas.microsoft.com/office/drawing/2014/main" id="{DBE9E285-08C7-38AA-5CD3-0E9D51A16CB2}"/>
              </a:ext>
            </a:extLst>
          </p:cNvPr>
          <p:cNvGraphicFramePr>
            <a:graphicFrameLocks noGrp="1"/>
          </p:cNvGraphicFramePr>
          <p:nvPr>
            <p:extLst>
              <p:ext uri="{D42A27DB-BD31-4B8C-83A1-F6EECF244321}">
                <p14:modId xmlns:p14="http://schemas.microsoft.com/office/powerpoint/2010/main" val="2062746211"/>
              </p:ext>
            </p:extLst>
          </p:nvPr>
        </p:nvGraphicFramePr>
        <p:xfrm>
          <a:off x="1586205" y="815776"/>
          <a:ext cx="8737247" cy="5913120"/>
        </p:xfrm>
        <a:graphic>
          <a:graphicData uri="http://schemas.openxmlformats.org/drawingml/2006/table">
            <a:tbl>
              <a:tblPr firstRow="1" bandRow="1">
                <a:tableStyleId>{5C22544A-7EE6-4342-B048-85BDC9FD1C3A}</a:tableStyleId>
              </a:tblPr>
              <a:tblGrid>
                <a:gridCol w="1847461">
                  <a:extLst>
                    <a:ext uri="{9D8B030D-6E8A-4147-A177-3AD203B41FA5}">
                      <a16:colId xmlns:a16="http://schemas.microsoft.com/office/drawing/2014/main" val="3882028212"/>
                    </a:ext>
                  </a:extLst>
                </a:gridCol>
                <a:gridCol w="3319272">
                  <a:extLst>
                    <a:ext uri="{9D8B030D-6E8A-4147-A177-3AD203B41FA5}">
                      <a16:colId xmlns:a16="http://schemas.microsoft.com/office/drawing/2014/main" val="3244132923"/>
                    </a:ext>
                  </a:extLst>
                </a:gridCol>
                <a:gridCol w="3570514">
                  <a:extLst>
                    <a:ext uri="{9D8B030D-6E8A-4147-A177-3AD203B41FA5}">
                      <a16:colId xmlns:a16="http://schemas.microsoft.com/office/drawing/2014/main" val="3524132889"/>
                    </a:ext>
                  </a:extLst>
                </a:gridCol>
              </a:tblGrid>
              <a:tr h="279825">
                <a:tc>
                  <a:txBody>
                    <a:bodyPr/>
                    <a:lstStyle/>
                    <a:p>
                      <a:pPr>
                        <a:buNone/>
                      </a:pPr>
                      <a:r>
                        <a:rPr lang="en-IN" sz="1600" dirty="0"/>
                        <a:t>Phase</a:t>
                      </a:r>
                    </a:p>
                  </a:txBody>
                  <a:tcPr anchor="ctr"/>
                </a:tc>
                <a:tc>
                  <a:txBody>
                    <a:bodyPr/>
                    <a:lstStyle/>
                    <a:p>
                      <a:pPr>
                        <a:buNone/>
                      </a:pPr>
                      <a:r>
                        <a:rPr lang="en-IN" sz="1600" dirty="0"/>
                        <a:t>Activity</a:t>
                      </a:r>
                    </a:p>
                  </a:txBody>
                  <a:tcPr anchor="ctr"/>
                </a:tc>
                <a:tc>
                  <a:txBody>
                    <a:bodyPr/>
                    <a:lstStyle/>
                    <a:p>
                      <a:pPr>
                        <a:buNone/>
                      </a:pPr>
                      <a:r>
                        <a:rPr lang="en-IN" sz="1600" dirty="0"/>
                        <a:t>Description</a:t>
                      </a:r>
                    </a:p>
                  </a:txBody>
                  <a:tcPr anchor="ctr"/>
                </a:tc>
                <a:extLst>
                  <a:ext uri="{0D108BD9-81ED-4DB2-BD59-A6C34878D82A}">
                    <a16:rowId xmlns:a16="http://schemas.microsoft.com/office/drawing/2014/main" val="3871680847"/>
                  </a:ext>
                </a:extLst>
              </a:tr>
              <a:tr h="1064557">
                <a:tc>
                  <a:txBody>
                    <a:bodyPr/>
                    <a:lstStyle/>
                    <a:p>
                      <a:pPr>
                        <a:buNone/>
                      </a:pPr>
                      <a:r>
                        <a:rPr lang="en-IN" sz="1600"/>
                        <a:t>Phase 1</a:t>
                      </a:r>
                    </a:p>
                  </a:txBody>
                  <a:tcPr anchor="ctr"/>
                </a:tc>
                <a:tc>
                  <a:txBody>
                    <a:bodyPr/>
                    <a:lstStyle/>
                    <a:p>
                      <a:pPr>
                        <a:buNone/>
                      </a:pPr>
                      <a:r>
                        <a:rPr lang="en-IN" sz="1600"/>
                        <a:t>Project Planning &amp; Research</a:t>
                      </a:r>
                    </a:p>
                  </a:txBody>
                  <a:tcPr anchor="ctr"/>
                </a:tc>
                <a:tc>
                  <a:txBody>
                    <a:bodyPr/>
                    <a:lstStyle/>
                    <a:p>
                      <a:pPr>
                        <a:buNone/>
                      </a:pPr>
                      <a:r>
                        <a:rPr lang="en-IN" sz="1600" dirty="0"/>
                        <a:t>Define the project title, problem statement, objectives, literature survey, research gap, innovation, feasibility, and project plan.</a:t>
                      </a:r>
                    </a:p>
                  </a:txBody>
                  <a:tcPr anchor="ctr"/>
                </a:tc>
                <a:extLst>
                  <a:ext uri="{0D108BD9-81ED-4DB2-BD59-A6C34878D82A}">
                    <a16:rowId xmlns:a16="http://schemas.microsoft.com/office/drawing/2014/main" val="2678151572"/>
                  </a:ext>
                </a:extLst>
              </a:tr>
              <a:tr h="834739">
                <a:tc>
                  <a:txBody>
                    <a:bodyPr/>
                    <a:lstStyle/>
                    <a:p>
                      <a:pPr>
                        <a:buNone/>
                      </a:pPr>
                      <a:r>
                        <a:rPr lang="en-IN" sz="1600" dirty="0"/>
                        <a:t>Phase 2</a:t>
                      </a:r>
                    </a:p>
                  </a:txBody>
                  <a:tcPr anchor="ctr"/>
                </a:tc>
                <a:tc>
                  <a:txBody>
                    <a:bodyPr/>
                    <a:lstStyle/>
                    <a:p>
                      <a:pPr>
                        <a:buNone/>
                      </a:pPr>
                      <a:r>
                        <a:rPr lang="en-IN" sz="1600"/>
                        <a:t>Methodology &amp; System Development</a:t>
                      </a:r>
                    </a:p>
                  </a:txBody>
                  <a:tcPr anchor="ctr"/>
                </a:tc>
                <a:tc>
                  <a:txBody>
                    <a:bodyPr/>
                    <a:lstStyle/>
                    <a:p>
                      <a:pPr>
                        <a:buNone/>
                      </a:pPr>
                      <a:r>
                        <a:rPr lang="en-IN" sz="1600" dirty="0"/>
                        <a:t>Define methodology and system design, select tools and technologies, collect and preprocess data, and implement clustering algorithms and the dashboard.</a:t>
                      </a:r>
                    </a:p>
                  </a:txBody>
                  <a:tcPr anchor="ctr"/>
                </a:tc>
                <a:extLst>
                  <a:ext uri="{0D108BD9-81ED-4DB2-BD59-A6C34878D82A}">
                    <a16:rowId xmlns:a16="http://schemas.microsoft.com/office/drawing/2014/main" val="4279461987"/>
                  </a:ext>
                </a:extLst>
              </a:tr>
              <a:tr h="664512">
                <a:tc>
                  <a:txBody>
                    <a:bodyPr/>
                    <a:lstStyle/>
                    <a:p>
                      <a:pPr>
                        <a:buNone/>
                      </a:pPr>
                      <a:r>
                        <a:rPr lang="en-IN" sz="1600"/>
                        <a:t>Phase 3</a:t>
                      </a:r>
                    </a:p>
                  </a:txBody>
                  <a:tcPr anchor="ctr"/>
                </a:tc>
                <a:tc>
                  <a:txBody>
                    <a:bodyPr/>
                    <a:lstStyle/>
                    <a:p>
                      <a:pPr>
                        <a:buNone/>
                      </a:pPr>
                      <a:r>
                        <a:rPr lang="en-IN" sz="1600" dirty="0"/>
                        <a:t>Results &amp; Performance Evaluation</a:t>
                      </a:r>
                    </a:p>
                  </a:txBody>
                  <a:tcPr anchor="ctr"/>
                </a:tc>
                <a:tc>
                  <a:txBody>
                    <a:bodyPr/>
                    <a:lstStyle/>
                    <a:p>
                      <a:pPr>
                        <a:buNone/>
                      </a:pPr>
                      <a:r>
                        <a:rPr lang="en-IN" sz="1600" dirty="0" err="1"/>
                        <a:t>Analyze</a:t>
                      </a:r>
                      <a:r>
                        <a:rPr lang="en-IN" sz="1600" dirty="0"/>
                        <a:t> clustering results, compare algorithms using evaluation metrics, prepare results, and generate customer segment insights.</a:t>
                      </a:r>
                    </a:p>
                  </a:txBody>
                  <a:tcPr anchor="ctr"/>
                </a:tc>
                <a:extLst>
                  <a:ext uri="{0D108BD9-81ED-4DB2-BD59-A6C34878D82A}">
                    <a16:rowId xmlns:a16="http://schemas.microsoft.com/office/drawing/2014/main" val="1325312669"/>
                  </a:ext>
                </a:extLst>
              </a:tr>
              <a:tr h="761860">
                <a:tc>
                  <a:txBody>
                    <a:bodyPr/>
                    <a:lstStyle/>
                    <a:p>
                      <a:pPr>
                        <a:buNone/>
                      </a:pPr>
                      <a:r>
                        <a:rPr lang="en-IN" sz="1600"/>
                        <a:t>Phase 4</a:t>
                      </a:r>
                    </a:p>
                  </a:txBody>
                  <a:tcPr anchor="ctr"/>
                </a:tc>
                <a:tc>
                  <a:txBody>
                    <a:bodyPr/>
                    <a:lstStyle/>
                    <a:p>
                      <a:pPr>
                        <a:buNone/>
                      </a:pPr>
                      <a:r>
                        <a:rPr lang="en-IN" sz="1600"/>
                        <a:t>Documentation &amp; Final Preparation</a:t>
                      </a:r>
                    </a:p>
                  </a:txBody>
                  <a:tcPr anchor="ctr"/>
                </a:tc>
                <a:tc>
                  <a:txBody>
                    <a:bodyPr/>
                    <a:lstStyle/>
                    <a:p>
                      <a:pPr>
                        <a:buNone/>
                      </a:pPr>
                      <a:r>
                        <a:rPr lang="en-IN" sz="1600" dirty="0"/>
                        <a:t>Prepare the project report, research paper, PPT, GitHub repository, project analysis report, and demonstration video.</a:t>
                      </a:r>
                    </a:p>
                  </a:txBody>
                  <a:tcPr anchor="ctr"/>
                </a:tc>
                <a:extLst>
                  <a:ext uri="{0D108BD9-81ED-4DB2-BD59-A6C34878D82A}">
                    <a16:rowId xmlns:a16="http://schemas.microsoft.com/office/drawing/2014/main" val="2375382429"/>
                  </a:ext>
                </a:extLst>
              </a:tr>
              <a:tr h="1132769">
                <a:tc>
                  <a:txBody>
                    <a:bodyPr/>
                    <a:lstStyle/>
                    <a:p>
                      <a:pPr>
                        <a:buNone/>
                      </a:pPr>
                      <a:r>
                        <a:rPr lang="en-IN" sz="1600"/>
                        <a:t>Phase 5</a:t>
                      </a:r>
                    </a:p>
                  </a:txBody>
                  <a:tcPr anchor="ctr"/>
                </a:tc>
                <a:tc>
                  <a:txBody>
                    <a:bodyPr/>
                    <a:lstStyle/>
                    <a:p>
                      <a:pPr>
                        <a:buNone/>
                      </a:pPr>
                      <a:r>
                        <a:rPr lang="en-IN" sz="1600" dirty="0"/>
                        <a:t>Testing &amp; Final Submission</a:t>
                      </a:r>
                    </a:p>
                  </a:txBody>
                  <a:tcPr anchor="ctr"/>
                </a:tc>
                <a:tc>
                  <a:txBody>
                    <a:bodyPr/>
                    <a:lstStyle/>
                    <a:p>
                      <a:pPr>
                        <a:buNone/>
                      </a:pPr>
                      <a:r>
                        <a:rPr lang="en-IN" sz="1600" dirty="0"/>
                        <a:t>Perform complete system testing, fix errors, validate results, conduct the final project demonstration, and submit all required project documents and research paper proof</a:t>
                      </a:r>
                    </a:p>
                  </a:txBody>
                  <a:tcPr anchor="ctr"/>
                </a:tc>
                <a:extLst>
                  <a:ext uri="{0D108BD9-81ED-4DB2-BD59-A6C34878D82A}">
                    <a16:rowId xmlns:a16="http://schemas.microsoft.com/office/drawing/2014/main" val="1638874871"/>
                  </a:ext>
                </a:extLst>
              </a:tr>
            </a:tbl>
          </a:graphicData>
        </a:graphic>
      </p:graphicFrame>
    </p:spTree>
    <p:extLst>
      <p:ext uri="{BB962C8B-B14F-4D97-AF65-F5344CB8AC3E}">
        <p14:creationId xmlns:p14="http://schemas.microsoft.com/office/powerpoint/2010/main" val="54794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463</TotalTime>
  <Words>1075</Words>
  <Application>Microsoft Office PowerPoint</Application>
  <PresentationFormat>Widescreen</PresentationFormat>
  <Paragraphs>92</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Arial Black</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NANDINI TANNERU</cp:lastModifiedBy>
  <cp:revision>23</cp:revision>
  <dcterms:created xsi:type="dcterms:W3CDTF">2024-08-29T05:25:00Z</dcterms:created>
  <dcterms:modified xsi:type="dcterms:W3CDTF">2026-08-12T04:10:16Z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