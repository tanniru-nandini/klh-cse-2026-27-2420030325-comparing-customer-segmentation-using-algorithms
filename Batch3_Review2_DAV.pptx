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3" r:id="rId5"/>
    <p:sldId id="264" r:id="rId6"/>
    <p:sldId id="265" r:id="rId7"/>
    <p:sldId id="269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AF2B1-FBF8-4B86-83C5-9E7E6B1D6A22}" v="19" dt="2026-09-22T13:45:57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INI TANNERU" userId="0657bc66d5872c2e" providerId="LiveId" clId="{A305FAE5-D065-467C-965C-4D7E2561D754}"/>
    <pc:docChg chg="delSld">
      <pc:chgData name="NANDINI TANNERU" userId="0657bc66d5872c2e" providerId="LiveId" clId="{A305FAE5-D065-467C-965C-4D7E2561D754}" dt="2026-09-23T04:03:22.508" v="1" actId="2696"/>
      <pc:docMkLst>
        <pc:docMk/>
      </pc:docMkLst>
      <pc:sldChg chg="del">
        <pc:chgData name="NANDINI TANNERU" userId="0657bc66d5872c2e" providerId="LiveId" clId="{A305FAE5-D065-467C-965C-4D7E2561D754}" dt="2026-09-23T04:03:20.012" v="0" actId="2696"/>
        <pc:sldMkLst>
          <pc:docMk/>
          <pc:sldMk cId="0" sldId="257"/>
        </pc:sldMkLst>
      </pc:sldChg>
      <pc:sldChg chg="del">
        <pc:chgData name="NANDINI TANNERU" userId="0657bc66d5872c2e" providerId="LiveId" clId="{A305FAE5-D065-467C-965C-4D7E2561D754}" dt="2026-09-23T04:03:22.508" v="1" actId="2696"/>
        <pc:sldMkLst>
          <pc:docMk/>
          <pc:sldMk cId="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71799" y="1417320"/>
            <a:ext cx="7047271" cy="14635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Study of Customer Segmentation Techniques Using Clustering Algorithms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Assistant</a:t>
            </a:r>
            <a:endParaRPr lang="en-IN" sz="2400" b="1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91839" y="3470148"/>
            <a:ext cx="5311387" cy="82802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600" b="0" dirty="0">
                <a:solidFill>
                  <a:srgbClr val="586069"/>
                </a:solidFill>
                <a:latin typeface="Aptos"/>
              </a:rPr>
              <a:t>Batch-3</a:t>
            </a:r>
          </a:p>
          <a:p>
            <a:pPr algn="ctr"/>
            <a:r>
              <a:rPr lang="en-IN" sz="1600" dirty="0">
                <a:solidFill>
                  <a:srgbClr val="586069"/>
                </a:solidFill>
                <a:latin typeface="Aptos"/>
              </a:rPr>
              <a:t>SECTION-7</a:t>
            </a:r>
            <a:endParaRPr sz="1600" b="0" dirty="0">
              <a:solidFill>
                <a:srgbClr val="58606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49039" y="4660489"/>
            <a:ext cx="4982006" cy="1150375"/>
          </a:xfrm>
          <a:prstGeom prst="roundRect">
            <a:avLst>
              <a:gd name="adj" fmla="val 7109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Dhanusha-240030159</a:t>
            </a:r>
            <a:b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Nandini– 2420030325</a:t>
            </a:r>
            <a:b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Lekha-2420030334</a:t>
            </a:r>
            <a:endParaRPr sz="1400" b="1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E9BE8-3E00-9600-A825-130FFF88F2CF}"/>
              </a:ext>
            </a:extLst>
          </p:cNvPr>
          <p:cNvSpPr txBox="1"/>
          <p:nvPr/>
        </p:nvSpPr>
        <p:spPr>
          <a:xfrm>
            <a:off x="5270091" y="453793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REVIEW 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1. Data 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7568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CSV Files, Open Datasets, Transaction Data, Demographic Data, Customer Records</a:t>
            </a:r>
          </a:p>
          <a:p>
            <a:pPr algn="ctr"/>
            <a:endParaRPr sz="13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80559" y="141732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2. Data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7568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r>
              <a:rPr lang="en-IN" sz="1400" dirty="0">
                <a:solidFill>
                  <a:schemeClr val="tx1"/>
                </a:solidFill>
              </a:rPr>
              <a:t>Data Cleaning, Missing Values, Encoding, Scaling, Outlier Removal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1732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3. Feature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07568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Recency, Frequency, Monetary, Spending Patterns</a:t>
            </a:r>
          </a:p>
          <a:p>
            <a:pPr algn="ctr"/>
            <a:endParaRPr sz="13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4. Descriptive Mining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8736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KPIs, Clustering, Correlation, Segment Profiles</a:t>
            </a:r>
          </a:p>
          <a:p>
            <a:pPr algn="ctr"/>
            <a:endParaRPr lang="en-IN" sz="130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80559" y="342900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5. Predictive Mining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408736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K-Means, DBSCAN, OPTICS, BIRCH, FCM, Spectral Clustering</a:t>
            </a:r>
          </a:p>
          <a:p>
            <a:pPr algn="ctr"/>
            <a:endParaRPr sz="13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83879" y="3429000"/>
            <a:ext cx="3154680" cy="54864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6.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087368"/>
            <a:ext cx="3154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Silhouette Score, Davies-Bouldin Index, Calinski-Harabasz Index, Execution Time</a:t>
            </a:r>
          </a:p>
          <a:p>
            <a:pPr algn="ctr"/>
            <a:endParaRPr sz="13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 dirty="0">
                <a:solidFill>
                  <a:srgbClr val="586069"/>
                </a:solidFill>
                <a:latin typeface="Aptos"/>
              </a:rPr>
              <a:t>Tourism Analytics  | 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-35593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"/>
              </a:rPr>
              <a:t>System Design / 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 dirty="0">
                <a:solidFill>
                  <a:srgbClr val="586069"/>
                </a:solidFill>
                <a:latin typeface="Aptos"/>
              </a:rPr>
              <a:t>Tourism Analytics  |  5</a:t>
            </a: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1CBCCFFC-27CE-710A-8905-5787A38B2E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181B54-ED86-E7DB-6329-B333AC452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596" y="867997"/>
            <a:ext cx="8429484" cy="56174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"/>
              </a:rPr>
              <a:t>Modern Tools &amp;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Pandas, NumPy, Scikit-learn, Matplotlib, Seaborn, Streamlit</a:t>
            </a:r>
          </a:p>
          <a:p>
            <a:pPr algn="ctr"/>
            <a:endParaRPr sz="14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80559" y="141732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Forecasting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Scikit-learn, Pandas, NumPy, Matplotlib, Seaborn, Streamlit</a:t>
            </a:r>
          </a:p>
          <a:p>
            <a:pPr algn="ctr"/>
            <a:endParaRPr sz="14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Streamlit, Plotly, Matplotlib, Power BI</a:t>
            </a:r>
          </a:p>
          <a:p>
            <a:pPr algn="ctr"/>
            <a:endParaRPr sz="14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4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Streamlit, FastAPI, Flask, REST APIs</a:t>
            </a:r>
          </a:p>
          <a:p>
            <a:pPr algn="ctr"/>
            <a:endParaRPr sz="14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80559" y="338328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397764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MySQL, MongoDB, Cloud Storage</a:t>
            </a:r>
          </a:p>
          <a:p>
            <a:pPr algn="ctr"/>
            <a:endParaRPr sz="14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0" y="3383280"/>
            <a:ext cx="32461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977640"/>
            <a:ext cx="3246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400" b="0" dirty="0">
                <a:solidFill>
                  <a:srgbClr val="242A32"/>
                </a:solidFill>
                <a:latin typeface="Aptos"/>
              </a:rPr>
              <a:t>Docker, Git, CI/CD, cloud VM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 dirty="0">
                <a:solidFill>
                  <a:srgbClr val="586069"/>
                </a:solidFill>
                <a:latin typeface="Aptos"/>
              </a:rPr>
              <a:t>Tourism Analytics  |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>
              <a:lnSpc>
                <a:spcPct val="200000"/>
              </a:lnSpc>
            </a:pPr>
            <a:r>
              <a:rPr lang="en-IN" sz="1400" b="1" dirty="0">
                <a:solidFill>
                  <a:schemeClr val="tx1"/>
                </a:solidFill>
              </a:rPr>
              <a:t>Step 1:</a:t>
            </a:r>
            <a:r>
              <a:rPr lang="en-IN" sz="1400" dirty="0">
                <a:solidFill>
                  <a:schemeClr val="tx1"/>
                </a:solidFill>
              </a:rPr>
              <a:t> Import and merge customer datasets.</a:t>
            </a:r>
          </a:p>
          <a:p>
            <a:pPr>
              <a:lnSpc>
                <a:spcPct val="200000"/>
              </a:lnSpc>
            </a:pPr>
            <a:r>
              <a:rPr lang="en-IN" sz="1400" b="1" dirty="0">
                <a:solidFill>
                  <a:schemeClr val="tx1"/>
                </a:solidFill>
              </a:rPr>
              <a:t>Step 2:</a:t>
            </a:r>
            <a:r>
              <a:rPr lang="en-IN" sz="1400" dirty="0">
                <a:solidFill>
                  <a:schemeClr val="tx1"/>
                </a:solidFill>
              </a:rPr>
              <a:t> Handle missing values, duplicates, outliers and inconsistent categories.</a:t>
            </a:r>
          </a:p>
          <a:p>
            <a:pPr>
              <a:lnSpc>
                <a:spcPct val="200000"/>
              </a:lnSpc>
            </a:pPr>
            <a:r>
              <a:rPr lang="en-IN" sz="1400" b="1" dirty="0">
                <a:solidFill>
                  <a:schemeClr val="tx1"/>
                </a:solidFill>
              </a:rPr>
              <a:t>Step 3:</a:t>
            </a:r>
            <a:r>
              <a:rPr lang="en-IN" sz="1400" dirty="0">
                <a:solidFill>
                  <a:schemeClr val="tx1"/>
                </a:solidFill>
              </a:rPr>
              <a:t> Create customer features such as Recency, Frequency, Monetary value and spending patterns.</a:t>
            </a:r>
          </a:p>
          <a:p>
            <a:pPr>
              <a:lnSpc>
                <a:spcPct val="200000"/>
              </a:lnSpc>
            </a:pPr>
            <a:r>
              <a:rPr lang="en-IN" sz="1400" b="1" dirty="0">
                <a:solidFill>
                  <a:schemeClr val="tx1"/>
                </a:solidFill>
              </a:rPr>
              <a:t>Step 4:</a:t>
            </a:r>
            <a:r>
              <a:rPr lang="en-IN" sz="1400" dirty="0">
                <a:solidFill>
                  <a:schemeClr val="tx1"/>
                </a:solidFill>
              </a:rPr>
              <a:t> Apply clustering algorithms to identify customer segments.</a:t>
            </a:r>
          </a:p>
          <a:p>
            <a:pPr>
              <a:lnSpc>
                <a:spcPct val="200000"/>
              </a:lnSpc>
            </a:pPr>
            <a:r>
              <a:rPr lang="en-IN" sz="1400" b="1" dirty="0">
                <a:solidFill>
                  <a:schemeClr val="tx1"/>
                </a:solidFill>
              </a:rPr>
              <a:t>Step 5:</a:t>
            </a:r>
            <a:r>
              <a:rPr lang="en-IN" sz="1400" dirty="0">
                <a:solidFill>
                  <a:schemeClr val="tx1"/>
                </a:solidFill>
              </a:rPr>
              <a:t> Store cluster results and evaluation metrics.</a:t>
            </a:r>
          </a:p>
          <a:p>
            <a:pPr>
              <a:lnSpc>
                <a:spcPct val="200000"/>
              </a:lnSpc>
            </a:pPr>
            <a:r>
              <a:rPr lang="en-IN" sz="1400" b="1" dirty="0">
                <a:solidFill>
                  <a:schemeClr val="tx1"/>
                </a:solidFill>
              </a:rPr>
              <a:t>Step 6:</a:t>
            </a:r>
            <a:r>
              <a:rPr lang="en-IN" sz="1400" dirty="0">
                <a:solidFill>
                  <a:schemeClr val="tx1"/>
                </a:solidFill>
              </a:rPr>
              <a:t> Display insights in an interactive dashboard with dataset/segment filters.</a:t>
            </a:r>
          </a:p>
          <a:p>
            <a:pPr algn="ctr">
              <a:lnSpc>
                <a:spcPct val="200000"/>
              </a:lnSpc>
              <a:spcAft>
                <a:spcPts val="500"/>
              </a:spcAft>
              <a:defRPr sz="1500">
                <a:solidFill>
                  <a:srgbClr val="242A32"/>
                </a:solidFill>
                <a:latin typeface="Aptos"/>
              </a:defRPr>
            </a:pP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80760" y="1371600"/>
            <a:ext cx="4892040" cy="3474720"/>
          </a:xfrm>
          <a:prstGeom prst="roundRect">
            <a:avLst/>
          </a:prstGeom>
          <a:solidFill>
            <a:srgbClr val="F7F8FA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r>
              <a:rPr lang="en-IN" sz="1200" dirty="0">
                <a:solidFill>
                  <a:srgbClr val="242A32"/>
                </a:solidFill>
                <a:latin typeface="Aptos"/>
              </a:rPr>
              <a:t># Example feature engineering</a:t>
            </a:r>
          </a:p>
          <a:p>
            <a:r>
              <a:rPr lang="en-IN" sz="1200" dirty="0">
                <a:solidFill>
                  <a:srgbClr val="242A32"/>
                </a:solidFill>
                <a:latin typeface="Aptos"/>
              </a:rPr>
              <a:t>df["TotalAmount"] = df["Quantity"] * df["UnitPrice"]</a:t>
            </a:r>
          </a:p>
          <a:p>
            <a:endParaRPr lang="en-IN" sz="1200" dirty="0">
              <a:solidFill>
                <a:srgbClr val="242A32"/>
              </a:solidFill>
              <a:latin typeface="Aptos"/>
            </a:endParaRPr>
          </a:p>
          <a:p>
            <a:r>
              <a:rPr lang="en-IN" sz="1200" dirty="0">
                <a:solidFill>
                  <a:srgbClr val="242A32"/>
                </a:solidFill>
                <a:latin typeface="Aptos"/>
              </a:rPr>
              <a:t>df["Recency"] = (df["InvoiceDate"].max() - df["InvoiceDate"]).dt.days</a:t>
            </a:r>
          </a:p>
          <a:p>
            <a:endParaRPr lang="en-IN" sz="1200" dirty="0">
              <a:solidFill>
                <a:srgbClr val="242A32"/>
              </a:solidFill>
              <a:latin typeface="Aptos"/>
            </a:endParaRPr>
          </a:p>
          <a:p>
            <a:r>
              <a:rPr lang="en-IN" sz="1200" dirty="0">
                <a:solidFill>
                  <a:srgbClr val="242A32"/>
                </a:solidFill>
                <a:latin typeface="Aptos"/>
              </a:rPr>
              <a:t>df["Frequency"] = df.groupby("CustomerID")["InvoiceNo"].transform("nunique")</a:t>
            </a:r>
          </a:p>
          <a:p>
            <a:endParaRPr lang="en-IN" sz="1200" dirty="0">
              <a:solidFill>
                <a:srgbClr val="242A32"/>
              </a:solidFill>
              <a:latin typeface="Aptos"/>
            </a:endParaRPr>
          </a:p>
          <a:p>
            <a:r>
              <a:rPr lang="en-IN" sz="1200" dirty="0">
                <a:solidFill>
                  <a:srgbClr val="242A32"/>
                </a:solidFill>
                <a:latin typeface="Aptos"/>
              </a:rPr>
              <a:t>df["Monetary"] = df.groupby("CustomerID")["TotalAmount"].transform("sum")</a:t>
            </a:r>
          </a:p>
          <a:p>
            <a:endParaRPr lang="en-IN" sz="1200" dirty="0">
              <a:solidFill>
                <a:srgbClr val="242A32"/>
              </a:solidFill>
              <a:latin typeface="Aptos"/>
            </a:endParaRPr>
          </a:p>
          <a:p>
            <a:r>
              <a:rPr lang="en-IN" sz="1200" dirty="0">
                <a:solidFill>
                  <a:srgbClr val="242A32"/>
                </a:solidFill>
                <a:latin typeface="Aptos"/>
              </a:rPr>
              <a:t>df = df.dropna()</a:t>
            </a:r>
            <a:endParaRPr sz="1200" b="0" dirty="0">
              <a:solidFill>
                <a:srgbClr val="242A3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80760" y="5074920"/>
            <a:ext cx="48920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300" b="1" dirty="0">
                <a:solidFill>
                  <a:srgbClr val="AD192C"/>
                </a:solidFill>
                <a:latin typeface="Aptos"/>
              </a:rPr>
              <a:t>Implementation principle: reproducible notebooks + version-controlled scripts + saved model artifacts.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 dirty="0">
                <a:solidFill>
                  <a:srgbClr val="586069"/>
                </a:solidFill>
                <a:latin typeface="Aptos"/>
              </a:rPr>
              <a:t>Tourism Analytics  |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417320"/>
            <a:ext cx="4800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 lvl="0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</a:rPr>
              <a:t>The clustering results reveal meaningful customer segments based on their behavior and spending patterns. </a:t>
            </a:r>
          </a:p>
          <a:p>
            <a:pPr lvl="0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</a:rPr>
              <a:t>Small differences between segments highlight variations in customer characteristics and purchasing behavior. </a:t>
            </a:r>
          </a:p>
          <a:p>
            <a:pPr lvl="0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</a:rPr>
              <a:t>Dashboard users can compare customer segments using KPIs, cluster profiles and visualizations. </a:t>
            </a:r>
          </a:p>
          <a:p>
            <a:pPr lvl="0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</a:rPr>
              <a:t>Results shown here are demonstration values, not measured project outcomes.</a:t>
            </a:r>
          </a:p>
          <a:p>
            <a:pPr algn="ctr">
              <a:lnSpc>
                <a:spcPct val="150000"/>
              </a:lnSpc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46520" y="4892040"/>
            <a:ext cx="4800600" cy="685800"/>
          </a:xfrm>
          <a:prstGeom prst="roundRect">
            <a:avLst/>
          </a:prstGeom>
          <a:solidFill>
            <a:srgbClr val="FCF8F8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400" b="1" dirty="0">
                <a:solidFill>
                  <a:srgbClr val="C00000"/>
                </a:solidFill>
              </a:rPr>
              <a:t>Recommended output: Customer segment table + cluster visualization + segment insights and recommendations.</a:t>
            </a:r>
            <a:endParaRPr lang="en-IN" sz="1400" dirty="0">
              <a:solidFill>
                <a:srgbClr val="C00000"/>
              </a:solidFill>
            </a:endParaRPr>
          </a:p>
          <a:p>
            <a:pPr algn="ctr"/>
            <a:endParaRPr sz="1300" b="1" dirty="0">
              <a:solidFill>
                <a:srgbClr val="C0000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 dirty="0">
                <a:solidFill>
                  <a:srgbClr val="586069"/>
                </a:solidFill>
                <a:latin typeface="Aptos"/>
              </a:rPr>
              <a:t>Tourism Analytics  |  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A0A74E-EBC5-5084-DA12-4C790B237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36" y="1318822"/>
            <a:ext cx="6006306" cy="30773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5427A2-88A0-AABD-6C76-9B8D2D6EE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7573"/>
            <a:ext cx="12192000" cy="582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01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"/>
              </a:rPr>
              <a:t>Performance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25880"/>
            <a:ext cx="516636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pPr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</a:rPr>
              <a:t>Silhouette Score:</a:t>
            </a:r>
            <a:r>
              <a:rPr lang="en-IN" sz="1400" dirty="0">
                <a:solidFill>
                  <a:schemeClr val="tx1"/>
                </a:solidFill>
              </a:rPr>
              <a:t> Measures how well customers fit within their assigned clusters.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</a:rPr>
              <a:t>Davies-Bouldin Index:</a:t>
            </a:r>
            <a:r>
              <a:rPr lang="en-IN" sz="1400" dirty="0">
                <a:solidFill>
                  <a:schemeClr val="tx1"/>
                </a:solidFill>
              </a:rPr>
              <a:t> Measures similarity between customer clusters; lower is better.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</a:rPr>
              <a:t>Calinski-Harabasz Index:</a:t>
            </a:r>
            <a:r>
              <a:rPr lang="en-IN" sz="1400" dirty="0">
                <a:solidFill>
                  <a:schemeClr val="tx1"/>
                </a:solidFill>
              </a:rPr>
              <a:t> Measures cluster separation and compactness; higher is better.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</a:rPr>
              <a:t>Execution Time:</a:t>
            </a:r>
            <a:r>
              <a:rPr lang="en-IN" sz="1400" dirty="0">
                <a:solidFill>
                  <a:schemeClr val="tx1"/>
                </a:solidFill>
              </a:rPr>
              <a:t> Measures how long each clustering algorithm takes.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</a:rPr>
              <a:t>Evaluate</a:t>
            </a:r>
            <a:r>
              <a:rPr lang="en-IN" sz="1400" dirty="0">
                <a:solidFill>
                  <a:schemeClr val="tx1"/>
                </a:solidFill>
              </a:rPr>
              <a:t> algorithms using multiple clustering metrics and compare their overall performance.</a:t>
            </a:r>
          </a:p>
          <a:p>
            <a:pPr algn="ctr">
              <a:lnSpc>
                <a:spcPct val="150000"/>
              </a:lnSpc>
              <a:spcAft>
                <a:spcPts val="500"/>
              </a:spcAft>
              <a:defRPr sz="1400">
                <a:solidFill>
                  <a:srgbClr val="242A32"/>
                </a:solidFill>
                <a:latin typeface="Aptos"/>
              </a:defRPr>
            </a:pP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0" y="5303520"/>
            <a:ext cx="5166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200" b="0" dirty="0">
                <a:solidFill>
                  <a:srgbClr val="586069"/>
                </a:solidFill>
                <a:latin typeface="Aptos"/>
              </a:rPr>
              <a:t>Illustrative model comparison — actual values should be calculated from the final dataset.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 dirty="0">
                <a:solidFill>
                  <a:srgbClr val="586069"/>
                </a:solidFill>
                <a:latin typeface="Aptos"/>
              </a:rPr>
              <a:t>Tourism Analytics  |  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5DBD95-CE74-702C-BCE8-AEF63A08A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78" y="1617161"/>
            <a:ext cx="5166360" cy="36236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"/>
              </a:rPr>
              <a:t>Research Paper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92024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Study /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325880"/>
            <a:ext cx="278892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Data &amp;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325880"/>
            <a:ext cx="297180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Relevant Contribution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325880"/>
            <a:ext cx="3383280" cy="502920"/>
          </a:xfrm>
          <a:prstGeom prst="roundRect">
            <a:avLst/>
          </a:prstGeom>
          <a:solidFill>
            <a:srgbClr val="AD192C"/>
          </a:solidFill>
          <a:ln>
            <a:solidFill>
              <a:srgbClr val="AD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Limitation /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01952"/>
            <a:ext cx="192024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K-MeK-Means Customer Segmentationans Customer Segmentation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23160" y="1901952"/>
            <a:ext cx="27889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Customer demographic and spending data; K-Means clustering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212080" y="1901952"/>
            <a:ext cx="297180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Identifies distinct customer groups based on similar characteristics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83880" y="1901952"/>
            <a:ext cx="33832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Sensitive to initial centroids and requires predefined number of clusters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770632"/>
            <a:ext cx="192024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DBSCAN-Based Segmentation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23160" y="2770632"/>
            <a:ext cx="27889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Customer behavioral data; DBSCAN clustering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212080" y="2770632"/>
            <a:ext cx="297180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Detects dense customer groups and identifies outliers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83880" y="2770632"/>
            <a:ext cx="33832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Performance depends on parameter selection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639312"/>
            <a:ext cx="192024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Fuzzy C-Means Segmentation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23160" y="3639312"/>
            <a:ext cx="27889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Customer attributes and purchasing behavior; FCM clustering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12080" y="3639312"/>
            <a:ext cx="297180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Allows customers to have partial membership in multiple segments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83880" y="3639312"/>
            <a:ext cx="33832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Sensitive to initialization and number of clusters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507992"/>
            <a:ext cx="192024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Multi-Algorithm Customer Segmentation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423160" y="4507992"/>
            <a:ext cx="278892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Customer and transaction data; multiple clustering techniques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212080" y="4507992"/>
            <a:ext cx="297180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Enables comparison of different clustering approaches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83880" y="4507992"/>
            <a:ext cx="338328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Existing studies often use limited algorithms and evaluation metrics</a:t>
            </a:r>
            <a:endParaRPr sz="10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 dirty="0">
                <a:solidFill>
                  <a:srgbClr val="586069"/>
                </a:solidFill>
                <a:latin typeface="Aptos"/>
              </a:rPr>
              <a:t>Tourism Analytics  |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ba60ab-8afe-4f19-b5c5-506481e4c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3320" y="384048"/>
            <a:ext cx="4434840" cy="438912"/>
          </a:xfrm>
          <a:prstGeom prst="roundRect">
            <a:avLst/>
          </a:prstGeom>
          <a:solidFill>
            <a:srgbClr val="C60000"/>
          </a:solidFill>
          <a:ln>
            <a:solidFill>
              <a:srgbClr val="14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r>
              <a:rPr lang="en-IN" dirty="0">
                <a:solidFill>
                  <a:schemeClr val="tx1"/>
                </a:solidFill>
              </a:rPr>
              <a:t>Descriptive mining explains customer behavior using </a:t>
            </a:r>
            <a:r>
              <a:rPr lang="en-IN" b="1" dirty="0">
                <a:solidFill>
                  <a:schemeClr val="tx1"/>
                </a:solidFill>
              </a:rPr>
              <a:t>spending patterns, customer profiles and segment analysis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</a:rPr>
              <a:t>Clustering supports </a:t>
            </a:r>
            <a:r>
              <a:rPr lang="en-IN" b="1" dirty="0">
                <a:solidFill>
                  <a:schemeClr val="tx1"/>
                </a:solidFill>
              </a:rPr>
              <a:t>customer segmentation by grouping similar customers based on demographic, behavioral and transactional features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</a:rPr>
              <a:t>A layered architecture improves </a:t>
            </a:r>
            <a:r>
              <a:rPr lang="en-IN" b="1" dirty="0">
                <a:solidFill>
                  <a:schemeClr val="tx1"/>
                </a:solidFill>
              </a:rPr>
              <a:t>maintainability, scalability and integration with the interactive dashboard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</a:rPr>
              <a:t>Clustering evaluation should consider </a:t>
            </a:r>
            <a:r>
              <a:rPr lang="en-IN" b="1" dirty="0">
                <a:solidFill>
                  <a:schemeClr val="tx1"/>
                </a:solidFill>
              </a:rPr>
              <a:t>cluster quality, execution time, interpretability and business usefulness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pPr algn="ctr"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4480560"/>
          </a:xfrm>
          <a:prstGeom prst="roundRect">
            <a:avLst/>
          </a:prstGeom>
          <a:solidFill>
            <a:srgbClr val="FCF8F8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bIns="54864"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Future Scope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Real-time customer data integration from e-commerce and transaction systems.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Sentiment analysis from customer reviews and social media.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Explainable and personalized customer segmentation.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Geospatial analysis for location-based customer insights.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Model monitoring and automatic clustering updates.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Integration with CRM and marketing platforms. </a:t>
            </a:r>
          </a:p>
          <a:p>
            <a:pPr algn="ctr">
              <a:spcAft>
                <a:spcPts val="500"/>
              </a:spcAft>
              <a:defRPr sz="1600">
                <a:solidFill>
                  <a:srgbClr val="242A32"/>
                </a:solidFill>
                <a:latin typeface="Aptos"/>
              </a:defRPr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r"/>
            <a:r>
              <a:rPr sz="800" b="0" dirty="0">
                <a:solidFill>
                  <a:srgbClr val="586069"/>
                </a:solidFill>
                <a:latin typeface="Aptos"/>
              </a:rPr>
              <a:t>Tourism Analytics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760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NANDINI TANNERU</cp:lastModifiedBy>
  <cp:revision>8</cp:revision>
  <dcterms:created xsi:type="dcterms:W3CDTF">2013-01-27T09:14:16Z</dcterms:created>
  <dcterms:modified xsi:type="dcterms:W3CDTF">2026-09-23T04:03:27Z</dcterms:modified>
  <cp:category/>
</cp:coreProperties>
</file>